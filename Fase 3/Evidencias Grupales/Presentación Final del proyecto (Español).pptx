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9144000"/>
  <p:embeddedFontLst>
    <p:embeddedFont>
      <p:font typeface="Play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gu11VEybVtd3vhTV/JOnnjtcYZ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-regular.fntdata"/><Relationship Id="rId20" Type="http://schemas.openxmlformats.org/officeDocument/2006/relationships/slide" Target="slides/slide16.xml"/><Relationship Id="rId42" Type="http://customschemas.google.com/relationships/presentationmetadata" Target="metadata"/><Relationship Id="rId41" Type="http://schemas.openxmlformats.org/officeDocument/2006/relationships/font" Target="fonts/Play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c43f1dad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8c43f1dadf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3f7dc0d85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a3f7dc0d8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3c71bfa7c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3a3c71bfa7c_3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3c71bfa7c_3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3c71bfa7c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3c71bfa7c_3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3c71bfa7c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3c71bfa7c_3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3c71bfa7c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3f7dc0d85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a3f7dc0d8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3f7dc0d85_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3f7dc0d85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3f7dc0d85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a3f7dc0d85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20000"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jpg"/><Relationship Id="rId9" Type="http://schemas.openxmlformats.org/officeDocument/2006/relationships/image" Target="../media/image22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trello.com/b/HKj2fQpi/capstone" TargetMode="External"/><Relationship Id="rId4" Type="http://schemas.openxmlformats.org/officeDocument/2006/relationships/hyperlink" Target="https://trello.com/b/HKj2fQpi/capstone" TargetMode="External"/><Relationship Id="rId5" Type="http://schemas.openxmlformats.org/officeDocument/2006/relationships/hyperlink" Target="https://github.com/Ikvillaseca/capstoneADI" TargetMode="External"/><Relationship Id="rId6" Type="http://schemas.openxmlformats.org/officeDocument/2006/relationships/hyperlink" Target="https://miro.com/app/board/uXjVJRruTyQ=/?share_link_id=212877083806" TargetMode="External"/><Relationship Id="rId7" Type="http://schemas.openxmlformats.org/officeDocument/2006/relationships/hyperlink" Target="https://routeanvil-d64f0fad6e45.herokuapp.com/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096693" y="2217906"/>
            <a:ext cx="10216574" cy="1780161"/>
          </a:xfrm>
          <a:prstGeom prst="rect">
            <a:avLst/>
          </a:prstGeom>
          <a:solidFill>
            <a:srgbClr val="FFC00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>
            <p:ph type="ctrTitle"/>
          </p:nvPr>
        </p:nvSpPr>
        <p:spPr>
          <a:xfrm>
            <a:off x="1174513" y="2451370"/>
            <a:ext cx="10138754" cy="10759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4000">
                <a:latin typeface="Play"/>
                <a:ea typeface="Play"/>
                <a:cs typeface="Play"/>
                <a:sym typeface="Play"/>
              </a:rPr>
              <a:t>Sistema web de gestión y control de flota </a:t>
            </a:r>
            <a:endParaRPr b="1" sz="88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884932" y="3695458"/>
            <a:ext cx="4422135" cy="10759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s-MX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Proyecto de Capstone</a:t>
            </a:r>
            <a:endParaRPr b="0" i="1" sz="2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2171" y="169239"/>
            <a:ext cx="3177903" cy="716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idx="1" type="body"/>
          </p:nvPr>
        </p:nvSpPr>
        <p:spPr>
          <a:xfrm>
            <a:off x="7988808" y="4239098"/>
            <a:ext cx="2595888" cy="48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MX" sz="2400"/>
              <a:t>9 Historias de usuario</a:t>
            </a:r>
            <a:endParaRPr b="1" sz="2400"/>
          </a:p>
        </p:txBody>
      </p:sp>
      <p:sp>
        <p:nvSpPr>
          <p:cNvPr id="93" name="Google Shape;93;p2"/>
          <p:cNvSpPr txBox="1"/>
          <p:nvPr/>
        </p:nvSpPr>
        <p:spPr>
          <a:xfrm>
            <a:off x="4815840" y="2694433"/>
            <a:ext cx="1772862" cy="48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6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4815840" y="4205379"/>
            <a:ext cx="1772862" cy="48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Toma de requisitos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4815840" y="1287116"/>
            <a:ext cx="1772862" cy="48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6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988808" y="1032607"/>
            <a:ext cx="3697224" cy="1126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Futura pyme de transporte de personal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988808" y="2490645"/>
            <a:ext cx="3285549" cy="896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Solución tecnológica para gestionar flota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641592" y="1287116"/>
            <a:ext cx="798161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641642" y="2696891"/>
            <a:ext cx="798073" cy="48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641642" y="4452516"/>
            <a:ext cx="798073" cy="48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968" y="592545"/>
            <a:ext cx="3883269" cy="5177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c43f1dadf_0_59"/>
          <p:cNvSpPr txBox="1"/>
          <p:nvPr>
            <p:ph type="title"/>
          </p:nvPr>
        </p:nvSpPr>
        <p:spPr>
          <a:xfrm>
            <a:off x="4770120" y="365125"/>
            <a:ext cx="231648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sz="4000"/>
              <a:t>Alcance </a:t>
            </a:r>
            <a:endParaRPr b="1" sz="4000"/>
          </a:p>
        </p:txBody>
      </p:sp>
      <p:sp>
        <p:nvSpPr>
          <p:cNvPr id="107" name="Google Shape;107;g38c43f1dadf_0_59"/>
          <p:cNvSpPr txBox="1"/>
          <p:nvPr>
            <p:ph idx="1" type="body"/>
          </p:nvPr>
        </p:nvSpPr>
        <p:spPr>
          <a:xfrm>
            <a:off x="2312730" y="1790109"/>
            <a:ext cx="8285166" cy="3277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/>
              <a:t>Registro vehículos </a:t>
            </a:r>
            <a:endParaRPr b="1" sz="2400"/>
          </a:p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/>
              <a:t>Registro choferes</a:t>
            </a:r>
            <a:endParaRPr b="1" sz="2400"/>
          </a:p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/>
              <a:t>Registros pasajeros</a:t>
            </a:r>
            <a:endParaRPr b="1" sz="2400"/>
          </a:p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/>
              <a:t>Itinerario viajes (Vista despachador de rutas, vista chofer)</a:t>
            </a:r>
            <a:endParaRPr b="1" sz="2400"/>
          </a:p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/>
              <a:t>Sistema de optimización de rutas (API)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4494276" y="336393"/>
            <a:ext cx="3287852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sz="4000"/>
              <a:t>Limitaciones</a:t>
            </a:r>
            <a:r>
              <a:rPr lang="es-MX" sz="4000"/>
              <a:t> </a:t>
            </a:r>
            <a:endParaRPr sz="4000"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2696778" y="1918124"/>
            <a:ext cx="8285166" cy="4132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/>
              <a:t>No tendrá otro formato aparte de página web</a:t>
            </a:r>
            <a:endParaRPr b="1" sz="2400"/>
          </a:p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/>
              <a:t>La optimización de rutas estará limitada por la capacidad y las restricciones de uso de la API de terceros seleccionada</a:t>
            </a:r>
            <a:endParaRPr/>
          </a:p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/>
              <a:t>El registro de vehículos, choferes, pasajeros y paradas será un proceso manual gestionado por el personal autorizado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2806446" y="336393"/>
            <a:ext cx="6579108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sz="4000"/>
              <a:t>Implementaciones Futuras </a:t>
            </a:r>
            <a:endParaRPr b="1" sz="4000"/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2686125" y="2131100"/>
            <a:ext cx="7175100" cy="3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/>
              <a:t>Sistema de seguimiento de vehículo</a:t>
            </a:r>
            <a:endParaRPr b="1"/>
          </a:p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/>
              <a:t>Sistema de cálculo de boletas de bencina</a:t>
            </a:r>
            <a:endParaRPr b="1" sz="2400"/>
          </a:p>
          <a:p>
            <a:pPr indent="-2286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/>
          <p:cNvPicPr preferRelativeResize="0"/>
          <p:nvPr/>
        </p:nvPicPr>
        <p:blipFill rotWithShape="1">
          <a:blip r:embed="rId3">
            <a:alphaModFix/>
          </a:blip>
          <a:srcRect b="12389" l="3701" r="3504" t="11561"/>
          <a:stretch/>
        </p:blipFill>
        <p:spPr>
          <a:xfrm>
            <a:off x="5359940" y="2031387"/>
            <a:ext cx="2008911" cy="1300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7995" y="4303581"/>
            <a:ext cx="1300481" cy="130048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4"/>
          <p:cNvSpPr txBox="1"/>
          <p:nvPr/>
        </p:nvSpPr>
        <p:spPr>
          <a:xfrm>
            <a:off x="2907360" y="627339"/>
            <a:ext cx="6806515" cy="897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Font typeface="Play"/>
              <a:buNone/>
            </a:pPr>
            <a:r>
              <a:rPr b="1" i="0" lang="es-MX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Herramientas de Desarrollo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8481" y="2031387"/>
            <a:ext cx="1300481" cy="1300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01604" y="4334921"/>
            <a:ext cx="1370617" cy="126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8763" y="2031387"/>
            <a:ext cx="1379876" cy="144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7995" y="2031387"/>
            <a:ext cx="1427053" cy="1300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56085" y="4282979"/>
            <a:ext cx="1492877" cy="1492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39812" y="1859867"/>
            <a:ext cx="1683170" cy="164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75148" y="4034022"/>
            <a:ext cx="1870938" cy="187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/>
        </p:nvSpPr>
        <p:spPr>
          <a:xfrm>
            <a:off x="2963037" y="827178"/>
            <a:ext cx="7078495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4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Plataforma de Hosting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2728" y="1835603"/>
            <a:ext cx="2700408" cy="2700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1"/>
          <p:cNvSpPr txBox="1"/>
          <p:nvPr>
            <p:ph type="ctrTitle"/>
          </p:nvPr>
        </p:nvSpPr>
        <p:spPr>
          <a:xfrm>
            <a:off x="1651169" y="1110445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4000">
                <a:latin typeface="Play"/>
                <a:ea typeface="Play"/>
                <a:cs typeface="Play"/>
                <a:sym typeface="Play"/>
              </a:rPr>
              <a:t>Planificación del proyecto</a:t>
            </a:r>
            <a:endParaRPr b="1" sz="8800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6164" y="3300665"/>
            <a:ext cx="1171017" cy="118501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2267712" y="919618"/>
            <a:ext cx="7391854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4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Herramientas de Planificación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7201526" y="2378474"/>
            <a:ext cx="3652402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Backlog y Criterios de aceptación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7201526" y="3837330"/>
            <a:ext cx="7078495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Bitácora semanal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7201526" y="5530485"/>
            <a:ext cx="2595101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Diagramas C4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25"/>
          <p:cNvCxnSpPr/>
          <p:nvPr/>
        </p:nvCxnSpPr>
        <p:spPr>
          <a:xfrm>
            <a:off x="5177913" y="2552656"/>
            <a:ext cx="1092462" cy="430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155" name="Google Shape;155;p25"/>
          <p:cNvCxnSpPr/>
          <p:nvPr/>
        </p:nvCxnSpPr>
        <p:spPr>
          <a:xfrm>
            <a:off x="5177913" y="4013666"/>
            <a:ext cx="1092462" cy="430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156" name="Google Shape;156;p25"/>
          <p:cNvCxnSpPr/>
          <p:nvPr/>
        </p:nvCxnSpPr>
        <p:spPr>
          <a:xfrm>
            <a:off x="5177913" y="5608392"/>
            <a:ext cx="1092462" cy="430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pic>
        <p:nvPicPr>
          <p:cNvPr id="157" name="Google Shape;1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6163" y="4983465"/>
            <a:ext cx="1171017" cy="1028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9694" y="1594411"/>
            <a:ext cx="3143959" cy="1768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/>
        </p:nvSpPr>
        <p:spPr>
          <a:xfrm>
            <a:off x="4696015" y="534712"/>
            <a:ext cx="279996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Roadmap</a:t>
            </a:r>
            <a:endParaRPr b="1" i="0" sz="40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4" name="Google Shape;164;p31"/>
          <p:cNvSpPr txBox="1"/>
          <p:nvPr/>
        </p:nvSpPr>
        <p:spPr>
          <a:xfrm>
            <a:off x="2176525" y="3156041"/>
            <a:ext cx="2178314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 inicial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1"/>
          <p:cNvSpPr txBox="1"/>
          <p:nvPr/>
        </p:nvSpPr>
        <p:spPr>
          <a:xfrm>
            <a:off x="2176525" y="4221424"/>
            <a:ext cx="1852177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1"/>
          <p:cNvSpPr txBox="1"/>
          <p:nvPr/>
        </p:nvSpPr>
        <p:spPr>
          <a:xfrm>
            <a:off x="6599871" y="3360312"/>
            <a:ext cx="4227013" cy="2079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sprints de 3 semanas cada uno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1"/>
          <p:cNvSpPr txBox="1"/>
          <p:nvPr/>
        </p:nvSpPr>
        <p:spPr>
          <a:xfrm>
            <a:off x="6599872" y="5286808"/>
            <a:ext cx="2445534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semana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1"/>
          <p:cNvSpPr txBox="1"/>
          <p:nvPr/>
        </p:nvSpPr>
        <p:spPr>
          <a:xfrm>
            <a:off x="2176525" y="5286808"/>
            <a:ext cx="1852177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1"/>
          <p:cNvSpPr txBox="1"/>
          <p:nvPr/>
        </p:nvSpPr>
        <p:spPr>
          <a:xfrm>
            <a:off x="6599872" y="3156041"/>
            <a:ext cx="2445534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semanas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/>
          <p:nvPr/>
        </p:nvSpPr>
        <p:spPr>
          <a:xfrm>
            <a:off x="4802123" y="3092215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1"/>
          <p:cNvSpPr/>
          <p:nvPr/>
        </p:nvSpPr>
        <p:spPr>
          <a:xfrm>
            <a:off x="4802123" y="4157598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1"/>
          <p:cNvSpPr/>
          <p:nvPr/>
        </p:nvSpPr>
        <p:spPr>
          <a:xfrm>
            <a:off x="4802123" y="5222982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1"/>
          <p:cNvSpPr txBox="1"/>
          <p:nvPr/>
        </p:nvSpPr>
        <p:spPr>
          <a:xfrm>
            <a:off x="2176525" y="2090657"/>
            <a:ext cx="1852177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1"/>
          <p:cNvSpPr/>
          <p:nvPr/>
        </p:nvSpPr>
        <p:spPr>
          <a:xfrm>
            <a:off x="4802123" y="2026831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6599872" y="2128555"/>
            <a:ext cx="2445534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semanas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2"/>
          <p:cNvPicPr preferRelativeResize="0"/>
          <p:nvPr/>
        </p:nvPicPr>
        <p:blipFill rotWithShape="1">
          <a:blip r:embed="rId3">
            <a:alphaModFix/>
          </a:blip>
          <a:srcRect b="21428" l="3343" r="2503" t="14468"/>
          <a:stretch/>
        </p:blipFill>
        <p:spPr>
          <a:xfrm>
            <a:off x="1003570" y="787940"/>
            <a:ext cx="10184860" cy="4426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/>
          <p:nvPr/>
        </p:nvSpPr>
        <p:spPr>
          <a:xfrm>
            <a:off x="4137949" y="903516"/>
            <a:ext cx="4325115" cy="7139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3"/>
          <p:cNvSpPr/>
          <p:nvPr/>
        </p:nvSpPr>
        <p:spPr>
          <a:xfrm>
            <a:off x="4137949" y="2441284"/>
            <a:ext cx="4325115" cy="7139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3"/>
          <p:cNvSpPr/>
          <p:nvPr/>
        </p:nvSpPr>
        <p:spPr>
          <a:xfrm>
            <a:off x="4137950" y="5492447"/>
            <a:ext cx="4325114" cy="7139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3"/>
          <p:cNvSpPr/>
          <p:nvPr/>
        </p:nvSpPr>
        <p:spPr>
          <a:xfrm>
            <a:off x="4137949" y="3985685"/>
            <a:ext cx="4325115" cy="7139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3"/>
          <p:cNvSpPr txBox="1"/>
          <p:nvPr/>
        </p:nvSpPr>
        <p:spPr>
          <a:xfrm>
            <a:off x="4577641" y="2628189"/>
            <a:ext cx="3514863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Tareas</a:t>
            </a:r>
            <a:r>
              <a:rPr b="0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pendientes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3"/>
          <p:cNvSpPr txBox="1"/>
          <p:nvPr/>
        </p:nvSpPr>
        <p:spPr>
          <a:xfrm>
            <a:off x="4338566" y="1082006"/>
            <a:ext cx="3969338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Organización semanal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3"/>
          <p:cNvSpPr txBox="1"/>
          <p:nvPr/>
        </p:nvSpPr>
        <p:spPr>
          <a:xfrm>
            <a:off x="5529571" y="5670937"/>
            <a:ext cx="1852177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4097579" y="4188548"/>
            <a:ext cx="4530855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Desarrollo funcionalidad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3"/>
          <p:cNvSpPr/>
          <p:nvPr/>
        </p:nvSpPr>
        <p:spPr>
          <a:xfrm>
            <a:off x="6058190" y="1718909"/>
            <a:ext cx="484632" cy="61431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3"/>
          <p:cNvSpPr/>
          <p:nvPr/>
        </p:nvSpPr>
        <p:spPr>
          <a:xfrm>
            <a:off x="6058190" y="3282129"/>
            <a:ext cx="484632" cy="61431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3"/>
          <p:cNvSpPr/>
          <p:nvPr/>
        </p:nvSpPr>
        <p:spPr>
          <a:xfrm>
            <a:off x="6058190" y="4788891"/>
            <a:ext cx="484632" cy="61431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3"/>
          <p:cNvSpPr/>
          <p:nvPr/>
        </p:nvSpPr>
        <p:spPr>
          <a:xfrm>
            <a:off x="9202366" y="992220"/>
            <a:ext cx="2217906" cy="5418307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25400">
            <a:solidFill>
              <a:srgbClr val="08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3"/>
          <p:cNvSpPr/>
          <p:nvPr/>
        </p:nvSpPr>
        <p:spPr>
          <a:xfrm rot="10800000">
            <a:off x="1183863" y="631751"/>
            <a:ext cx="2217906" cy="5418307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25400">
            <a:solidFill>
              <a:srgbClr val="08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2"/>
          <p:cNvSpPr txBox="1"/>
          <p:nvPr>
            <p:ph type="ctrTitle"/>
          </p:nvPr>
        </p:nvSpPr>
        <p:spPr>
          <a:xfrm>
            <a:off x="1942999" y="2237362"/>
            <a:ext cx="9144000" cy="1572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4000">
                <a:latin typeface="Play"/>
                <a:ea typeface="Play"/>
                <a:cs typeface="Play"/>
                <a:sym typeface="Play"/>
              </a:rPr>
              <a:t> Arquitectura del Sitio web RouteAnvil</a:t>
            </a:r>
            <a:endParaRPr b="1" sz="8800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3"/>
          <p:cNvSpPr txBox="1"/>
          <p:nvPr>
            <p:ph idx="1" type="body"/>
          </p:nvPr>
        </p:nvSpPr>
        <p:spPr>
          <a:xfrm>
            <a:off x="5976544" y="4422644"/>
            <a:ext cx="5181081" cy="914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MX" sz="2400">
                <a:latin typeface="Arial"/>
                <a:ea typeface="Arial"/>
                <a:cs typeface="Arial"/>
                <a:sym typeface="Arial"/>
              </a:rPr>
              <a:t>Página web responsiva.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3"/>
          <p:cNvSpPr txBox="1"/>
          <p:nvPr/>
        </p:nvSpPr>
        <p:spPr>
          <a:xfrm>
            <a:off x="1502177" y="2685998"/>
            <a:ext cx="26751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24"/>
              <a:buFont typeface="Arial"/>
              <a:buNone/>
            </a:pPr>
            <a:r>
              <a:rPr b="1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3"/>
          <p:cNvSpPr txBox="1"/>
          <p:nvPr/>
        </p:nvSpPr>
        <p:spPr>
          <a:xfrm>
            <a:off x="1502177" y="4288784"/>
            <a:ext cx="2942748" cy="914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Interacción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3"/>
          <p:cNvSpPr txBox="1"/>
          <p:nvPr/>
        </p:nvSpPr>
        <p:spPr>
          <a:xfrm>
            <a:off x="1502177" y="1152803"/>
            <a:ext cx="3127152" cy="914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24"/>
              <a:buFont typeface="Arial"/>
              <a:buNone/>
            </a:pPr>
            <a:r>
              <a:rPr b="1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Administración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3"/>
          <p:cNvSpPr txBox="1"/>
          <p:nvPr/>
        </p:nvSpPr>
        <p:spPr>
          <a:xfrm>
            <a:off x="5976544" y="1046982"/>
            <a:ext cx="5823107" cy="1180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choferes, vehículos, pasajeros y paraderos.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3"/>
          <p:cNvSpPr txBox="1"/>
          <p:nvPr/>
        </p:nvSpPr>
        <p:spPr>
          <a:xfrm>
            <a:off x="5976544" y="2623911"/>
            <a:ext cx="5482639" cy="1403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Generación de viajes en base a la información entregada.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3"/>
          <p:cNvSpPr/>
          <p:nvPr/>
        </p:nvSpPr>
        <p:spPr>
          <a:xfrm>
            <a:off x="4512593" y="1259684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3"/>
          <p:cNvSpPr/>
          <p:nvPr/>
        </p:nvSpPr>
        <p:spPr>
          <a:xfrm>
            <a:off x="4512593" y="2858448"/>
            <a:ext cx="978300" cy="48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3"/>
          <p:cNvSpPr/>
          <p:nvPr/>
        </p:nvSpPr>
        <p:spPr>
          <a:xfrm>
            <a:off x="4512643" y="4425084"/>
            <a:ext cx="978300" cy="48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0717" y="5285803"/>
            <a:ext cx="10477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6954" y="1880807"/>
            <a:ext cx="2952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3826953" y="4348258"/>
            <a:ext cx="2952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760530" y="3105339"/>
            <a:ext cx="29527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0"/>
          <p:cNvSpPr/>
          <p:nvPr/>
        </p:nvSpPr>
        <p:spPr>
          <a:xfrm>
            <a:off x="2780776" y="2909507"/>
            <a:ext cx="2387628" cy="1389316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de administración de transporte y planificación de rutas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0"/>
          <p:cNvSpPr/>
          <p:nvPr/>
        </p:nvSpPr>
        <p:spPr>
          <a:xfrm>
            <a:off x="6647931" y="3204115"/>
            <a:ext cx="1889760" cy="80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Google Maps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0"/>
          <p:cNvSpPr txBox="1"/>
          <p:nvPr/>
        </p:nvSpPr>
        <p:spPr>
          <a:xfrm>
            <a:off x="198256" y="157365"/>
            <a:ext cx="279996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Contexto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3565" y="754810"/>
            <a:ext cx="116205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"/>
          <p:cNvSpPr/>
          <p:nvPr/>
        </p:nvSpPr>
        <p:spPr>
          <a:xfrm>
            <a:off x="1490472" y="1542289"/>
            <a:ext cx="8915400" cy="474878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1590" y="176452"/>
            <a:ext cx="104775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2"/>
          <p:cNvSpPr/>
          <p:nvPr/>
        </p:nvSpPr>
        <p:spPr>
          <a:xfrm>
            <a:off x="6343837" y="1968433"/>
            <a:ext cx="2064641" cy="778574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Interfaz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[UI HTTP - JS - Bootstrap]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2"/>
          <p:cNvSpPr/>
          <p:nvPr/>
        </p:nvSpPr>
        <p:spPr>
          <a:xfrm>
            <a:off x="3252215" y="1968433"/>
            <a:ext cx="2064641" cy="761431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Plataforma Heroku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[Heroku]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2"/>
          <p:cNvSpPr/>
          <p:nvPr/>
        </p:nvSpPr>
        <p:spPr>
          <a:xfrm>
            <a:off x="6343838" y="3792850"/>
            <a:ext cx="2064641" cy="761431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Aplicación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[Django - Python]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2"/>
          <p:cNvSpPr/>
          <p:nvPr/>
        </p:nvSpPr>
        <p:spPr>
          <a:xfrm>
            <a:off x="3252212" y="3792850"/>
            <a:ext cx="2064641" cy="761431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Servidor HTTP WSGI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[Gunicorn]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2"/>
          <p:cNvSpPr/>
          <p:nvPr/>
        </p:nvSpPr>
        <p:spPr>
          <a:xfrm>
            <a:off x="6618352" y="5315712"/>
            <a:ext cx="1329309" cy="76143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[PostgreSQL]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2"/>
          <p:cNvSpPr txBox="1"/>
          <p:nvPr/>
        </p:nvSpPr>
        <p:spPr>
          <a:xfrm>
            <a:off x="194446" y="177939"/>
            <a:ext cx="3550703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Contenedores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8522" y="982315"/>
            <a:ext cx="2952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683569" y="1868805"/>
            <a:ext cx="2952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6896" y="2747007"/>
            <a:ext cx="2952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683566" y="3659214"/>
            <a:ext cx="2952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4226" y="4554281"/>
            <a:ext cx="295275" cy="76143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2"/>
          <p:cNvSpPr txBox="1"/>
          <p:nvPr/>
        </p:nvSpPr>
        <p:spPr>
          <a:xfrm>
            <a:off x="1585982" y="5847470"/>
            <a:ext cx="20239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Sistema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7884" y="176450"/>
            <a:ext cx="1122660" cy="108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/>
          <p:nvPr/>
        </p:nvSpPr>
        <p:spPr>
          <a:xfrm>
            <a:off x="1741553" y="2361055"/>
            <a:ext cx="8470392" cy="343280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5"/>
          <p:cNvSpPr txBox="1"/>
          <p:nvPr/>
        </p:nvSpPr>
        <p:spPr>
          <a:xfrm>
            <a:off x="194446" y="177939"/>
            <a:ext cx="3492335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Componentes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5"/>
          <p:cNvSpPr/>
          <p:nvPr/>
        </p:nvSpPr>
        <p:spPr>
          <a:xfrm>
            <a:off x="6019993" y="2530338"/>
            <a:ext cx="1061083" cy="417195"/>
          </a:xfrm>
          <a:prstGeom prst="rect">
            <a:avLst/>
          </a:prstGeom>
          <a:solidFill>
            <a:srgbClr val="C7EDF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Templates Django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5"/>
          <p:cNvSpPr/>
          <p:nvPr/>
        </p:nvSpPr>
        <p:spPr>
          <a:xfrm>
            <a:off x="5239321" y="6081352"/>
            <a:ext cx="1132332" cy="623126"/>
          </a:xfrm>
          <a:prstGeom prst="flowChartMagneticDisk">
            <a:avLst/>
          </a:prstGeom>
          <a:solidFill>
            <a:srgbClr val="F6C5A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5"/>
          <p:cNvSpPr/>
          <p:nvPr/>
        </p:nvSpPr>
        <p:spPr>
          <a:xfrm>
            <a:off x="5976749" y="3869817"/>
            <a:ext cx="1061083" cy="417195"/>
          </a:xfrm>
          <a:prstGeom prst="rect">
            <a:avLst/>
          </a:prstGeom>
          <a:solidFill>
            <a:srgbClr val="F6C5A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Vehículos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5"/>
          <p:cNvSpPr/>
          <p:nvPr/>
        </p:nvSpPr>
        <p:spPr>
          <a:xfrm>
            <a:off x="4633724" y="3868860"/>
            <a:ext cx="1061083" cy="417195"/>
          </a:xfrm>
          <a:prstGeom prst="rect">
            <a:avLst/>
          </a:prstGeom>
          <a:solidFill>
            <a:srgbClr val="F6C5A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Choferes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5"/>
          <p:cNvSpPr/>
          <p:nvPr/>
        </p:nvSpPr>
        <p:spPr>
          <a:xfrm>
            <a:off x="7195949" y="3869817"/>
            <a:ext cx="1061083" cy="417195"/>
          </a:xfrm>
          <a:prstGeom prst="rect">
            <a:avLst/>
          </a:prstGeom>
          <a:solidFill>
            <a:srgbClr val="F6C5A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Paraderos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5"/>
          <p:cNvSpPr/>
          <p:nvPr/>
        </p:nvSpPr>
        <p:spPr>
          <a:xfrm>
            <a:off x="3290699" y="3868860"/>
            <a:ext cx="1061083" cy="417195"/>
          </a:xfrm>
          <a:prstGeom prst="rect">
            <a:avLst/>
          </a:prstGeom>
          <a:solidFill>
            <a:srgbClr val="F6C5A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Pasajeros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5"/>
          <p:cNvSpPr/>
          <p:nvPr/>
        </p:nvSpPr>
        <p:spPr>
          <a:xfrm>
            <a:off x="8392301" y="3869825"/>
            <a:ext cx="1132200" cy="417300"/>
          </a:xfrm>
          <a:prstGeom prst="rect">
            <a:avLst/>
          </a:prstGeom>
          <a:solidFill>
            <a:srgbClr val="81E49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Rutas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5"/>
          <p:cNvSpPr/>
          <p:nvPr/>
        </p:nvSpPr>
        <p:spPr>
          <a:xfrm>
            <a:off x="1936241" y="3868860"/>
            <a:ext cx="1061083" cy="417195"/>
          </a:xfrm>
          <a:prstGeom prst="rect">
            <a:avLst/>
          </a:prstGeom>
          <a:solidFill>
            <a:srgbClr val="F6C5A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5"/>
          <p:cNvSpPr/>
          <p:nvPr/>
        </p:nvSpPr>
        <p:spPr>
          <a:xfrm>
            <a:off x="1936240" y="3092571"/>
            <a:ext cx="1061083" cy="417195"/>
          </a:xfrm>
          <a:prstGeom prst="rect">
            <a:avLst/>
          </a:prstGeom>
          <a:solidFill>
            <a:srgbClr val="F6C5A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inicio sesión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5"/>
          <p:cNvSpPr/>
          <p:nvPr/>
        </p:nvSpPr>
        <p:spPr>
          <a:xfrm>
            <a:off x="1936240" y="4685471"/>
            <a:ext cx="1061083" cy="417195"/>
          </a:xfrm>
          <a:prstGeom prst="rect">
            <a:avLst/>
          </a:prstGeom>
          <a:solidFill>
            <a:srgbClr val="F6C5A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Aplicación Users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5"/>
          <p:cNvSpPr/>
          <p:nvPr/>
        </p:nvSpPr>
        <p:spPr>
          <a:xfrm>
            <a:off x="8392301" y="3092575"/>
            <a:ext cx="1132200" cy="417300"/>
          </a:xfrm>
          <a:prstGeom prst="rect">
            <a:avLst/>
          </a:prstGeom>
          <a:solidFill>
            <a:srgbClr val="81E49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Optimización Rutas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5"/>
          <p:cNvSpPr/>
          <p:nvPr/>
        </p:nvSpPr>
        <p:spPr>
          <a:xfrm>
            <a:off x="5301426" y="4782178"/>
            <a:ext cx="1061083" cy="417195"/>
          </a:xfrm>
          <a:prstGeom prst="rect">
            <a:avLst/>
          </a:prstGeom>
          <a:solidFill>
            <a:srgbClr val="F6C5A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Aplicación RouteAnvil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5"/>
          <p:cNvSpPr/>
          <p:nvPr/>
        </p:nvSpPr>
        <p:spPr>
          <a:xfrm>
            <a:off x="8392297" y="1622920"/>
            <a:ext cx="1212900" cy="417300"/>
          </a:xfrm>
          <a:prstGeom prst="rect">
            <a:avLst/>
          </a:prstGeom>
          <a:solidFill>
            <a:srgbClr val="81E49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Google Maps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5"/>
          <p:cNvSpPr/>
          <p:nvPr/>
        </p:nvSpPr>
        <p:spPr>
          <a:xfrm>
            <a:off x="6019991" y="332428"/>
            <a:ext cx="1061083" cy="417195"/>
          </a:xfrm>
          <a:prstGeom prst="rect">
            <a:avLst/>
          </a:prstGeom>
          <a:solidFill>
            <a:srgbClr val="C7EDF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Interfaz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5"/>
          <p:cNvSpPr txBox="1"/>
          <p:nvPr/>
        </p:nvSpPr>
        <p:spPr>
          <a:xfrm>
            <a:off x="1797247" y="5486083"/>
            <a:ext cx="20239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Aplicación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45"/>
          <p:cNvCxnSpPr/>
          <p:nvPr/>
        </p:nvCxnSpPr>
        <p:spPr>
          <a:xfrm rot="10800000">
            <a:off x="6522340" y="3028004"/>
            <a:ext cx="0" cy="2912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" name="Google Shape;269;p45"/>
          <p:cNvCxnSpPr/>
          <p:nvPr/>
        </p:nvCxnSpPr>
        <p:spPr>
          <a:xfrm>
            <a:off x="2997323" y="3319272"/>
            <a:ext cx="53190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45"/>
          <p:cNvSpPr/>
          <p:nvPr/>
        </p:nvSpPr>
        <p:spPr>
          <a:xfrm>
            <a:off x="6019992" y="983615"/>
            <a:ext cx="1061083" cy="417195"/>
          </a:xfrm>
          <a:prstGeom prst="rect">
            <a:avLst/>
          </a:prstGeom>
          <a:solidFill>
            <a:srgbClr val="C7EDF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Plataforma Heroku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5"/>
          <p:cNvSpPr/>
          <p:nvPr/>
        </p:nvSpPr>
        <p:spPr>
          <a:xfrm>
            <a:off x="5996561" y="1631440"/>
            <a:ext cx="1061083" cy="417195"/>
          </a:xfrm>
          <a:prstGeom prst="rect">
            <a:avLst/>
          </a:prstGeom>
          <a:solidFill>
            <a:srgbClr val="C7EDF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Servidor HTTP WSGI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3205" y="160018"/>
            <a:ext cx="789305" cy="8180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p45"/>
          <p:cNvCxnSpPr/>
          <p:nvPr/>
        </p:nvCxnSpPr>
        <p:spPr>
          <a:xfrm flipH="1" rot="10800000">
            <a:off x="6522340" y="2104707"/>
            <a:ext cx="4762" cy="40198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p45"/>
          <p:cNvCxnSpPr/>
          <p:nvPr/>
        </p:nvCxnSpPr>
        <p:spPr>
          <a:xfrm rot="10800000">
            <a:off x="6522340" y="1426464"/>
            <a:ext cx="0" cy="20497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" name="Google Shape;275;p45"/>
          <p:cNvCxnSpPr/>
          <p:nvPr/>
        </p:nvCxnSpPr>
        <p:spPr>
          <a:xfrm rot="10800000">
            <a:off x="7195949" y="544517"/>
            <a:ext cx="41185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p45"/>
          <p:cNvCxnSpPr/>
          <p:nvPr/>
        </p:nvCxnSpPr>
        <p:spPr>
          <a:xfrm rot="10800000">
            <a:off x="6522340" y="773049"/>
            <a:ext cx="0" cy="20497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" name="Google Shape;277;p45"/>
          <p:cNvCxnSpPr/>
          <p:nvPr/>
        </p:nvCxnSpPr>
        <p:spPr>
          <a:xfrm>
            <a:off x="3821240" y="3319272"/>
            <a:ext cx="0" cy="5242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45"/>
          <p:cNvCxnSpPr/>
          <p:nvPr/>
        </p:nvCxnSpPr>
        <p:spPr>
          <a:xfrm>
            <a:off x="5162360" y="3323838"/>
            <a:ext cx="0" cy="5242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45"/>
          <p:cNvCxnSpPr/>
          <p:nvPr/>
        </p:nvCxnSpPr>
        <p:spPr>
          <a:xfrm>
            <a:off x="6522340" y="3319272"/>
            <a:ext cx="0" cy="549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45"/>
          <p:cNvCxnSpPr/>
          <p:nvPr/>
        </p:nvCxnSpPr>
        <p:spPr>
          <a:xfrm>
            <a:off x="7722680" y="3319272"/>
            <a:ext cx="0" cy="5242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45"/>
          <p:cNvCxnSpPr/>
          <p:nvPr/>
        </p:nvCxnSpPr>
        <p:spPr>
          <a:xfrm>
            <a:off x="3798952" y="4600378"/>
            <a:ext cx="509016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45"/>
          <p:cNvCxnSpPr/>
          <p:nvPr/>
        </p:nvCxnSpPr>
        <p:spPr>
          <a:xfrm>
            <a:off x="3798952" y="4286055"/>
            <a:ext cx="0" cy="3143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45"/>
          <p:cNvCxnSpPr/>
          <p:nvPr/>
        </p:nvCxnSpPr>
        <p:spPr>
          <a:xfrm>
            <a:off x="5145216" y="4286055"/>
            <a:ext cx="0" cy="3143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45"/>
          <p:cNvCxnSpPr/>
          <p:nvPr/>
        </p:nvCxnSpPr>
        <p:spPr>
          <a:xfrm>
            <a:off x="6522340" y="4286055"/>
            <a:ext cx="0" cy="3143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45"/>
          <p:cNvCxnSpPr/>
          <p:nvPr/>
        </p:nvCxnSpPr>
        <p:spPr>
          <a:xfrm>
            <a:off x="7732968" y="4286055"/>
            <a:ext cx="0" cy="3143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45"/>
          <p:cNvCxnSpPr/>
          <p:nvPr/>
        </p:nvCxnSpPr>
        <p:spPr>
          <a:xfrm>
            <a:off x="8889112" y="4286055"/>
            <a:ext cx="0" cy="3143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45"/>
          <p:cNvCxnSpPr/>
          <p:nvPr/>
        </p:nvCxnSpPr>
        <p:spPr>
          <a:xfrm>
            <a:off x="8922829" y="2104707"/>
            <a:ext cx="0" cy="9232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8" name="Google Shape;288;p45"/>
          <p:cNvCxnSpPr/>
          <p:nvPr/>
        </p:nvCxnSpPr>
        <p:spPr>
          <a:xfrm>
            <a:off x="2446590" y="3509766"/>
            <a:ext cx="0" cy="3337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p45"/>
          <p:cNvCxnSpPr/>
          <p:nvPr/>
        </p:nvCxnSpPr>
        <p:spPr>
          <a:xfrm>
            <a:off x="2446590" y="4286055"/>
            <a:ext cx="0" cy="3337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" name="Google Shape;290;p45"/>
          <p:cNvCxnSpPr/>
          <p:nvPr/>
        </p:nvCxnSpPr>
        <p:spPr>
          <a:xfrm>
            <a:off x="5799390" y="5199373"/>
            <a:ext cx="0" cy="77809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p45"/>
          <p:cNvCxnSpPr/>
          <p:nvPr/>
        </p:nvCxnSpPr>
        <p:spPr>
          <a:xfrm>
            <a:off x="2446590" y="5102666"/>
            <a:ext cx="0" cy="3143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45"/>
          <p:cNvCxnSpPr/>
          <p:nvPr/>
        </p:nvCxnSpPr>
        <p:spPr>
          <a:xfrm>
            <a:off x="2446590" y="5416989"/>
            <a:ext cx="334975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45"/>
          <p:cNvCxnSpPr/>
          <p:nvPr/>
        </p:nvCxnSpPr>
        <p:spPr>
          <a:xfrm>
            <a:off x="8922829" y="3529071"/>
            <a:ext cx="0" cy="24740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94" name="Google Shape;29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7808" y="155453"/>
            <a:ext cx="875921" cy="822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3f7dc0d85_1_0"/>
          <p:cNvSpPr txBox="1"/>
          <p:nvPr>
            <p:ph type="title"/>
          </p:nvPr>
        </p:nvSpPr>
        <p:spPr>
          <a:xfrm>
            <a:off x="272750" y="223275"/>
            <a:ext cx="1557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MX" sz="4000"/>
              <a:t>B.D.</a:t>
            </a:r>
            <a:endParaRPr b="1" sz="4000"/>
          </a:p>
        </p:txBody>
      </p:sp>
      <p:pic>
        <p:nvPicPr>
          <p:cNvPr id="300" name="Google Shape;300;g3a3f7dc0d85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4212" y="119613"/>
            <a:ext cx="6304575" cy="661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"/>
          <p:cNvSpPr txBox="1"/>
          <p:nvPr>
            <p:ph type="ctrTitle"/>
          </p:nvPr>
        </p:nvSpPr>
        <p:spPr>
          <a:xfrm>
            <a:off x="1651169" y="1110445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4000">
                <a:latin typeface="Play"/>
                <a:ea typeface="Play"/>
                <a:cs typeface="Play"/>
                <a:sym typeface="Play"/>
              </a:rPr>
              <a:t>Demostración </a:t>
            </a:r>
            <a:endParaRPr b="1" sz="8800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3c71bfa7c_3_5"/>
          <p:cNvSpPr txBox="1"/>
          <p:nvPr>
            <p:ph type="ctrTitle"/>
          </p:nvPr>
        </p:nvSpPr>
        <p:spPr>
          <a:xfrm>
            <a:off x="1651169" y="1110445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4000"/>
              <a:t>Proceso de asignación de viajes</a:t>
            </a:r>
            <a:endParaRPr b="1" sz="8800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3c71bfa7c_3_10"/>
          <p:cNvSpPr txBox="1"/>
          <p:nvPr>
            <p:ph idx="4294967295" type="title"/>
          </p:nvPr>
        </p:nvSpPr>
        <p:spPr>
          <a:xfrm>
            <a:off x="1548914" y="365125"/>
            <a:ext cx="8759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sz="4000"/>
              <a:t>Pasos</a:t>
            </a:r>
            <a:endParaRPr b="1" sz="4000"/>
          </a:p>
        </p:txBody>
      </p:sp>
      <p:sp>
        <p:nvSpPr>
          <p:cNvPr id="316" name="Google Shape;316;g3a3c71bfa7c_3_10"/>
          <p:cNvSpPr txBox="1"/>
          <p:nvPr>
            <p:ph idx="4294967295" type="body"/>
          </p:nvPr>
        </p:nvSpPr>
        <p:spPr>
          <a:xfrm>
            <a:off x="2312730" y="1790109"/>
            <a:ext cx="8285100" cy="3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b="1" lang="es-MX" sz="2400"/>
              <a:t>Selección de Fecha / Hora</a:t>
            </a:r>
            <a:endParaRPr b="1" sz="2400"/>
          </a:p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AutoNum type="arabicPeriod"/>
            </a:pPr>
            <a:r>
              <a:rPr b="1" lang="es-MX" sz="2400"/>
              <a:t>Selección de Pasajeros</a:t>
            </a:r>
            <a:endParaRPr b="1" sz="2400"/>
          </a:p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AutoNum type="arabicPeriod"/>
            </a:pPr>
            <a:r>
              <a:rPr b="1" lang="es-MX" sz="2400"/>
              <a:t>Selección de Chofer</a:t>
            </a:r>
            <a:endParaRPr b="1" sz="2400"/>
          </a:p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AutoNum type="arabicPeriod"/>
            </a:pPr>
            <a:r>
              <a:rPr b="1" lang="es-MX" sz="2400"/>
              <a:t>Selección de Paradero (Origen o Destino)</a:t>
            </a:r>
            <a:endParaRPr b="1" sz="2400"/>
          </a:p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AutoNum type="arabicPeriod"/>
            </a:pPr>
            <a:r>
              <a:rPr b="1" lang="es-MX" sz="2400" u="sng"/>
              <a:t>Asignación Automática</a:t>
            </a:r>
            <a:endParaRPr b="1" sz="2400" u="sng"/>
          </a:p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AutoNum type="arabicPeriod"/>
            </a:pPr>
            <a:r>
              <a:rPr b="1" lang="es-MX" sz="2400"/>
              <a:t>Resumen de viajes creados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3c71bfa7c_3_17"/>
          <p:cNvSpPr txBox="1"/>
          <p:nvPr>
            <p:ph idx="4294967295" type="title"/>
          </p:nvPr>
        </p:nvSpPr>
        <p:spPr>
          <a:xfrm>
            <a:off x="3067332" y="365125"/>
            <a:ext cx="5722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sz="4000"/>
              <a:t>Asignación </a:t>
            </a:r>
            <a:r>
              <a:rPr b="1" lang="es-MX" sz="4000"/>
              <a:t>Automática</a:t>
            </a:r>
            <a:endParaRPr b="1" sz="4000"/>
          </a:p>
        </p:txBody>
      </p:sp>
      <p:sp>
        <p:nvSpPr>
          <p:cNvPr id="322" name="Google Shape;322;g3a3c71bfa7c_3_17"/>
          <p:cNvSpPr txBox="1"/>
          <p:nvPr>
            <p:ph idx="4294967295" type="body"/>
          </p:nvPr>
        </p:nvSpPr>
        <p:spPr>
          <a:xfrm>
            <a:off x="2312730" y="1790109"/>
            <a:ext cx="8285100" cy="3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AutoNum type="arabicPeriod"/>
            </a:pPr>
            <a:r>
              <a:rPr b="1" lang="es-MX" sz="2400"/>
              <a:t>Agrupación de pasajeros con mismo paradero.</a:t>
            </a:r>
            <a:endParaRPr b="1" sz="2400"/>
          </a:p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AutoNum type="arabicPeriod"/>
            </a:pPr>
            <a:r>
              <a:rPr b="1" lang="es-MX" sz="2400"/>
              <a:t>Clustering usando K-means.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4"/>
          <p:cNvSpPr txBox="1"/>
          <p:nvPr>
            <p:ph type="ctrTitle"/>
          </p:nvPr>
        </p:nvSpPr>
        <p:spPr>
          <a:xfrm>
            <a:off x="0" y="340467"/>
            <a:ext cx="2769849" cy="8133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b="1" lang="es-MX" sz="4000">
                <a:latin typeface="Play"/>
                <a:ea typeface="Play"/>
                <a:cs typeface="Play"/>
                <a:sym typeface="Play"/>
              </a:rPr>
              <a:t>Cluster</a:t>
            </a:r>
            <a:endParaRPr b="1" sz="8800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28" name="Google Shape;32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5875" y="262650"/>
            <a:ext cx="6332701" cy="633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3c71bfa7c_3_22"/>
          <p:cNvSpPr txBox="1"/>
          <p:nvPr>
            <p:ph idx="4294967295" type="title"/>
          </p:nvPr>
        </p:nvSpPr>
        <p:spPr>
          <a:xfrm>
            <a:off x="3067332" y="365125"/>
            <a:ext cx="5722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sz="4000"/>
              <a:t>Asignación Automática</a:t>
            </a:r>
            <a:endParaRPr b="1" sz="4000"/>
          </a:p>
        </p:txBody>
      </p:sp>
      <p:sp>
        <p:nvSpPr>
          <p:cNvPr id="334" name="Google Shape;334;g3a3c71bfa7c_3_22"/>
          <p:cNvSpPr txBox="1"/>
          <p:nvPr>
            <p:ph idx="4294967295" type="body"/>
          </p:nvPr>
        </p:nvSpPr>
        <p:spPr>
          <a:xfrm>
            <a:off x="2312730" y="1790109"/>
            <a:ext cx="8285100" cy="3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AutoNum type="arabicPeriod"/>
            </a:pPr>
            <a:r>
              <a:rPr b="1" lang="es-MX" sz="2400"/>
              <a:t>Agrupación de pasajeros con mismo paradero.</a:t>
            </a:r>
            <a:endParaRPr b="1" sz="2400"/>
          </a:p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AutoNum type="arabicPeriod"/>
            </a:pPr>
            <a:r>
              <a:rPr b="1" lang="es-MX" sz="2400"/>
              <a:t>Clustering usando K-means.</a:t>
            </a:r>
            <a:endParaRPr b="1" sz="2400"/>
          </a:p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AutoNum type="arabicPeriod"/>
            </a:pPr>
            <a:r>
              <a:rPr b="1" lang="es-MX" sz="2400"/>
              <a:t>Asignación a vehículos.</a:t>
            </a:r>
            <a:endParaRPr b="1" sz="2400"/>
          </a:p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AutoNum type="arabicPeriod"/>
            </a:pPr>
            <a:r>
              <a:rPr b="1" lang="es-MX" sz="2400"/>
              <a:t>Creación de viajes (API o Manualmente).</a:t>
            </a:r>
            <a:endParaRPr b="1" sz="2400"/>
          </a:p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AutoNum type="arabicPeriod"/>
            </a:pPr>
            <a:r>
              <a:rPr b="1" lang="es-MX" sz="2400"/>
              <a:t>Almacenamiento de viajes creados.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 txBox="1"/>
          <p:nvPr>
            <p:ph type="ctrTitle"/>
          </p:nvPr>
        </p:nvSpPr>
        <p:spPr>
          <a:xfrm>
            <a:off x="1651169" y="1110445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4000">
                <a:latin typeface="Play"/>
                <a:ea typeface="Play"/>
                <a:cs typeface="Play"/>
                <a:sym typeface="Play"/>
              </a:rPr>
              <a:t>Pruebas</a:t>
            </a:r>
            <a:endParaRPr b="1" sz="8800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4064" y="2002173"/>
            <a:ext cx="2211707" cy="1262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6970" y="3507280"/>
            <a:ext cx="2765698" cy="1156134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8"/>
          <p:cNvSpPr txBox="1"/>
          <p:nvPr/>
        </p:nvSpPr>
        <p:spPr>
          <a:xfrm>
            <a:off x="7192273" y="2454994"/>
            <a:ext cx="1852177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Unitarias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8"/>
          <p:cNvSpPr txBox="1"/>
          <p:nvPr/>
        </p:nvSpPr>
        <p:spPr>
          <a:xfrm>
            <a:off x="7192273" y="4029047"/>
            <a:ext cx="1630714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6310" y="5088463"/>
            <a:ext cx="947214" cy="99479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 txBox="1"/>
          <p:nvPr/>
        </p:nvSpPr>
        <p:spPr>
          <a:xfrm>
            <a:off x="7192273" y="5407368"/>
            <a:ext cx="1630714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28"/>
          <p:cNvCxnSpPr/>
          <p:nvPr/>
        </p:nvCxnSpPr>
        <p:spPr>
          <a:xfrm>
            <a:off x="5724144" y="2631330"/>
            <a:ext cx="1092462" cy="430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351" name="Google Shape;351;p28"/>
          <p:cNvCxnSpPr/>
          <p:nvPr/>
        </p:nvCxnSpPr>
        <p:spPr>
          <a:xfrm>
            <a:off x="5724144" y="5583704"/>
            <a:ext cx="1092462" cy="430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cxnSp>
        <p:nvCxnSpPr>
          <p:cNvPr id="352" name="Google Shape;352;p28"/>
          <p:cNvCxnSpPr/>
          <p:nvPr/>
        </p:nvCxnSpPr>
        <p:spPr>
          <a:xfrm>
            <a:off x="5724144" y="4205383"/>
            <a:ext cx="1092462" cy="430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  <p:pic>
        <p:nvPicPr>
          <p:cNvPr descr="behave 1.4.0.dev0 documentation" id="353" name="Google Shape;35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5213" y="3629470"/>
            <a:ext cx="1209029" cy="1156134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8"/>
          <p:cNvSpPr txBox="1"/>
          <p:nvPr/>
        </p:nvSpPr>
        <p:spPr>
          <a:xfrm>
            <a:off x="1511919" y="534700"/>
            <a:ext cx="9168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lang="es-MX" sz="4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Herramientas para pruebas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sz="4000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7"/>
          <p:cNvSpPr txBox="1"/>
          <p:nvPr/>
        </p:nvSpPr>
        <p:spPr>
          <a:xfrm>
            <a:off x="4696015" y="534712"/>
            <a:ext cx="279996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Pruebas</a:t>
            </a:r>
            <a:endParaRPr b="1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60" name="Google Shape;360;p47"/>
          <p:cNvSpPr txBox="1"/>
          <p:nvPr/>
        </p:nvSpPr>
        <p:spPr>
          <a:xfrm>
            <a:off x="2878489" y="4386792"/>
            <a:ext cx="2178314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7"/>
          <p:cNvSpPr txBox="1"/>
          <p:nvPr/>
        </p:nvSpPr>
        <p:spPr>
          <a:xfrm>
            <a:off x="2878489" y="2250465"/>
            <a:ext cx="1852177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7"/>
          <p:cNvSpPr txBox="1"/>
          <p:nvPr/>
        </p:nvSpPr>
        <p:spPr>
          <a:xfrm>
            <a:off x="7301836" y="2134568"/>
            <a:ext cx="2133994" cy="588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65 pruebas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7301836" y="4386792"/>
            <a:ext cx="2445534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pruebas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7"/>
          <p:cNvSpPr/>
          <p:nvPr/>
        </p:nvSpPr>
        <p:spPr>
          <a:xfrm>
            <a:off x="5527047" y="4322966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7"/>
          <p:cNvSpPr/>
          <p:nvPr/>
        </p:nvSpPr>
        <p:spPr>
          <a:xfrm>
            <a:off x="5527047" y="2186639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7"/>
          <p:cNvSpPr txBox="1"/>
          <p:nvPr/>
        </p:nvSpPr>
        <p:spPr>
          <a:xfrm>
            <a:off x="2878489" y="3376577"/>
            <a:ext cx="1852177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Unitarias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7"/>
          <p:cNvSpPr/>
          <p:nvPr/>
        </p:nvSpPr>
        <p:spPr>
          <a:xfrm>
            <a:off x="5527047" y="3312751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7"/>
          <p:cNvSpPr txBox="1"/>
          <p:nvPr/>
        </p:nvSpPr>
        <p:spPr>
          <a:xfrm>
            <a:off x="7301836" y="3376577"/>
            <a:ext cx="2445534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 pruebas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6"/>
          <p:cNvSpPr txBox="1"/>
          <p:nvPr>
            <p:ph type="title"/>
          </p:nvPr>
        </p:nvSpPr>
        <p:spPr>
          <a:xfrm>
            <a:off x="2078182" y="365125"/>
            <a:ext cx="7278254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sz="4000">
                <a:latin typeface="Play"/>
                <a:ea typeface="Play"/>
                <a:cs typeface="Play"/>
                <a:sym typeface="Play"/>
              </a:rPr>
              <a:t>Cambios en el proyecto </a:t>
            </a:r>
            <a:endParaRPr b="1" sz="40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74" name="Google Shape;374;p56"/>
          <p:cNvSpPr txBox="1"/>
          <p:nvPr>
            <p:ph idx="1" type="body"/>
          </p:nvPr>
        </p:nvSpPr>
        <p:spPr>
          <a:xfrm>
            <a:off x="3629466" y="1790109"/>
            <a:ext cx="4645854" cy="3277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>
                <a:latin typeface="Arial"/>
                <a:ea typeface="Arial"/>
                <a:cs typeface="Arial"/>
                <a:sym typeface="Arial"/>
              </a:rPr>
              <a:t>Herramientas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b="1" lang="es-MX" sz="2400"/>
              <a:t>Nuevas funcionalidades</a:t>
            </a:r>
            <a:endParaRPr b="1" sz="2400"/>
          </a:p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>
                <a:latin typeface="Arial"/>
                <a:ea typeface="Arial"/>
                <a:cs typeface="Arial"/>
                <a:sym typeface="Arial"/>
              </a:rPr>
              <a:t>Diagramas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●"/>
            </a:pPr>
            <a:r>
              <a:rPr b="1" lang="es-MX" sz="2400">
                <a:latin typeface="Arial"/>
                <a:ea typeface="Arial"/>
                <a:cs typeface="Arial"/>
                <a:sym typeface="Arial"/>
              </a:rPr>
              <a:t>Cambios en las pruebas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b="1" lang="es-MX" sz="2400"/>
              <a:t>Validaciones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"/>
          <p:cNvSpPr txBox="1"/>
          <p:nvPr/>
        </p:nvSpPr>
        <p:spPr>
          <a:xfrm>
            <a:off x="2654332" y="537049"/>
            <a:ext cx="6883336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Criterios de Aceptación</a:t>
            </a:r>
            <a:endParaRPr b="1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80" name="Google Shape;380;p6"/>
          <p:cNvSpPr txBox="1"/>
          <p:nvPr/>
        </p:nvSpPr>
        <p:spPr>
          <a:xfrm>
            <a:off x="2734057" y="4386792"/>
            <a:ext cx="2111110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Cumplidos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"/>
          <p:cNvSpPr txBox="1"/>
          <p:nvPr/>
        </p:nvSpPr>
        <p:spPr>
          <a:xfrm>
            <a:off x="2776580" y="2323012"/>
            <a:ext cx="1974496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H.U.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6"/>
          <p:cNvSpPr txBox="1"/>
          <p:nvPr/>
        </p:nvSpPr>
        <p:spPr>
          <a:xfrm>
            <a:off x="7301836" y="2134568"/>
            <a:ext cx="2133994" cy="588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Historias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6"/>
          <p:cNvSpPr txBox="1"/>
          <p:nvPr/>
        </p:nvSpPr>
        <p:spPr>
          <a:xfrm>
            <a:off x="7301836" y="4398362"/>
            <a:ext cx="2445534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6"/>
          <p:cNvSpPr/>
          <p:nvPr/>
        </p:nvSpPr>
        <p:spPr>
          <a:xfrm>
            <a:off x="5527047" y="4322966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6"/>
          <p:cNvSpPr/>
          <p:nvPr/>
        </p:nvSpPr>
        <p:spPr>
          <a:xfrm>
            <a:off x="5527047" y="2186639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6"/>
          <p:cNvSpPr txBox="1"/>
          <p:nvPr/>
        </p:nvSpPr>
        <p:spPr>
          <a:xfrm>
            <a:off x="2734057" y="3376577"/>
            <a:ext cx="2624328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Criterios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"/>
          <p:cNvSpPr/>
          <p:nvPr/>
        </p:nvSpPr>
        <p:spPr>
          <a:xfrm>
            <a:off x="5527047" y="3312751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6"/>
          <p:cNvSpPr txBox="1"/>
          <p:nvPr/>
        </p:nvSpPr>
        <p:spPr>
          <a:xfrm>
            <a:off x="7301836" y="3376577"/>
            <a:ext cx="2445534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criterios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"/>
          <p:cNvSpPr txBox="1"/>
          <p:nvPr/>
        </p:nvSpPr>
        <p:spPr>
          <a:xfrm>
            <a:off x="2574583" y="535521"/>
            <a:ext cx="6883336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Costos (CLP)</a:t>
            </a:r>
            <a:endParaRPr b="1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1929992" y="4250555"/>
            <a:ext cx="2304287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Mantención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"/>
          <p:cNvSpPr txBox="1"/>
          <p:nvPr/>
        </p:nvSpPr>
        <p:spPr>
          <a:xfrm>
            <a:off x="1929992" y="5186774"/>
            <a:ext cx="3327807" cy="62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Desarrollo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7"/>
          <p:cNvSpPr txBox="1"/>
          <p:nvPr/>
        </p:nvSpPr>
        <p:spPr>
          <a:xfrm>
            <a:off x="7301825" y="2104800"/>
            <a:ext cx="46350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800">
                <a:solidFill>
                  <a:schemeClr val="dk1"/>
                </a:solidFill>
              </a:rPr>
              <a:t>$</a:t>
            </a: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9.300 </a:t>
            </a:r>
            <a:r>
              <a:rPr b="1" lang="es-MX" sz="2800">
                <a:solidFill>
                  <a:schemeClr val="dk1"/>
                </a:solidFill>
              </a:rPr>
              <a:t>($10 USD) x Mes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"/>
          <p:cNvSpPr txBox="1"/>
          <p:nvPr/>
        </p:nvSpPr>
        <p:spPr>
          <a:xfrm>
            <a:off x="7301811" y="5186750"/>
            <a:ext cx="2445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lang="es-MX" sz="2800">
                <a:solidFill>
                  <a:schemeClr val="dk1"/>
                </a:solidFill>
              </a:rPr>
              <a:t>4 Meses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5527047" y="4186729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5527047" y="2186639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7"/>
          <p:cNvSpPr txBox="1"/>
          <p:nvPr/>
        </p:nvSpPr>
        <p:spPr>
          <a:xfrm>
            <a:off x="1929992" y="3250510"/>
            <a:ext cx="2624328" cy="3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Dominio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5527047" y="3186684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7"/>
          <p:cNvSpPr txBox="1"/>
          <p:nvPr/>
        </p:nvSpPr>
        <p:spPr>
          <a:xfrm>
            <a:off x="7301816" y="3250500"/>
            <a:ext cx="4343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lang="es-MX" sz="2800">
                <a:solidFill>
                  <a:schemeClr val="dk1"/>
                </a:solidFill>
              </a:rPr>
              <a:t>$</a:t>
            </a: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10.000 </a:t>
            </a:r>
            <a:r>
              <a:rPr b="1" lang="es-MX" sz="2800">
                <a:solidFill>
                  <a:schemeClr val="dk1"/>
                </a:solidFill>
              </a:rPr>
              <a:t>x Año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7"/>
          <p:cNvSpPr txBox="1"/>
          <p:nvPr/>
        </p:nvSpPr>
        <p:spPr>
          <a:xfrm>
            <a:off x="1929992" y="2233943"/>
            <a:ext cx="1974496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5527047" y="5186774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7"/>
          <p:cNvSpPr txBox="1"/>
          <p:nvPr/>
        </p:nvSpPr>
        <p:spPr>
          <a:xfrm>
            <a:off x="7301811" y="4218637"/>
            <a:ext cx="2445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lang="es-MX" sz="2800">
                <a:solidFill>
                  <a:schemeClr val="dk1"/>
                </a:solidFill>
              </a:rPr>
              <a:t>1 Mes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"/>
          <p:cNvSpPr txBox="1"/>
          <p:nvPr/>
        </p:nvSpPr>
        <p:spPr>
          <a:xfrm>
            <a:off x="2654332" y="537049"/>
            <a:ext cx="6883336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Resultados</a:t>
            </a:r>
            <a:endParaRPr b="1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11" name="Google Shape;411;p8"/>
          <p:cNvSpPr txBox="1"/>
          <p:nvPr/>
        </p:nvSpPr>
        <p:spPr>
          <a:xfrm>
            <a:off x="7301818" y="2315609"/>
            <a:ext cx="35817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800">
                <a:solidFill>
                  <a:schemeClr val="dk1"/>
                </a:solidFill>
              </a:rPr>
              <a:t>Interacción con el usuario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5527047" y="2367673"/>
            <a:ext cx="978300" cy="48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8"/>
          <p:cNvSpPr txBox="1"/>
          <p:nvPr/>
        </p:nvSpPr>
        <p:spPr>
          <a:xfrm>
            <a:off x="1812853" y="4613581"/>
            <a:ext cx="35223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lang="es-MX" sz="2800">
                <a:solidFill>
                  <a:schemeClr val="dk1"/>
                </a:solidFill>
              </a:rPr>
              <a:t>Aspecto </a:t>
            </a: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5527047" y="4549765"/>
            <a:ext cx="978300" cy="48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8"/>
          <p:cNvSpPr txBox="1"/>
          <p:nvPr/>
        </p:nvSpPr>
        <p:spPr>
          <a:xfrm>
            <a:off x="7301821" y="4613581"/>
            <a:ext cx="32727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MX" sz="2800">
                <a:solidFill>
                  <a:schemeClr val="dk1"/>
                </a:solidFill>
              </a:rPr>
              <a:t>Museo de concesiones</a:t>
            </a:r>
            <a:endParaRPr/>
          </a:p>
        </p:txBody>
      </p:sp>
      <p:sp>
        <p:nvSpPr>
          <p:cNvPr id="416" name="Google Shape;416;p8"/>
          <p:cNvSpPr txBox="1"/>
          <p:nvPr/>
        </p:nvSpPr>
        <p:spPr>
          <a:xfrm>
            <a:off x="1855459" y="2367759"/>
            <a:ext cx="4246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800">
                <a:solidFill>
                  <a:schemeClr val="dk1"/>
                </a:solidFill>
              </a:rPr>
              <a:t>Aspecto </a:t>
            </a: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Técnico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"/>
          <p:cNvSpPr/>
          <p:nvPr/>
        </p:nvSpPr>
        <p:spPr>
          <a:xfrm>
            <a:off x="1096693" y="2217906"/>
            <a:ext cx="10216574" cy="1780161"/>
          </a:xfrm>
          <a:prstGeom prst="rect">
            <a:avLst/>
          </a:prstGeom>
          <a:solidFill>
            <a:srgbClr val="FFC00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2"/>
          <p:cNvSpPr txBox="1"/>
          <p:nvPr>
            <p:ph type="ctrTitle"/>
          </p:nvPr>
        </p:nvSpPr>
        <p:spPr>
          <a:xfrm>
            <a:off x="4107402" y="2696466"/>
            <a:ext cx="4195155" cy="10759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8800">
                <a:latin typeface="Play"/>
                <a:ea typeface="Play"/>
                <a:cs typeface="Play"/>
                <a:sym typeface="Play"/>
              </a:rPr>
              <a:t>Gracias </a:t>
            </a:r>
            <a:endParaRPr b="1" sz="8800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423" name="Google Shape;4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2171" y="169239"/>
            <a:ext cx="3177903" cy="716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3f7dc0d85_2_0"/>
          <p:cNvSpPr txBox="1"/>
          <p:nvPr>
            <p:ph type="ctrTitle"/>
          </p:nvPr>
        </p:nvSpPr>
        <p:spPr>
          <a:xfrm>
            <a:off x="1524000" y="183372"/>
            <a:ext cx="91440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4000"/>
              <a:t>Anexos</a:t>
            </a:r>
            <a:endParaRPr b="1" sz="88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29" name="Google Shape;429;g3a3f7dc0d85_2_0"/>
          <p:cNvSpPr txBox="1"/>
          <p:nvPr/>
        </p:nvSpPr>
        <p:spPr>
          <a:xfrm>
            <a:off x="1770246" y="1766450"/>
            <a:ext cx="19746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T</a:t>
            </a:r>
            <a:r>
              <a:rPr b="1" lang="es-MX" sz="2800" u="sng">
                <a:solidFill>
                  <a:schemeClr val="hlink"/>
                </a:solidFill>
                <a:hlinkClick r:id="rId4"/>
              </a:rPr>
              <a:t>rello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a3f7dc0d85_2_0"/>
          <p:cNvSpPr txBox="1"/>
          <p:nvPr/>
        </p:nvSpPr>
        <p:spPr>
          <a:xfrm>
            <a:off x="1770246" y="3558134"/>
            <a:ext cx="19746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800" u="sng">
                <a:solidFill>
                  <a:schemeClr val="hlink"/>
                </a:solidFill>
                <a:hlinkClick r:id="rId5"/>
              </a:rPr>
              <a:t>GitHub</a:t>
            </a:r>
            <a:endParaRPr b="1"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a3f7dc0d85_2_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a3f7dc0d85_2_0"/>
          <p:cNvSpPr txBox="1"/>
          <p:nvPr/>
        </p:nvSpPr>
        <p:spPr>
          <a:xfrm>
            <a:off x="1770246" y="2662273"/>
            <a:ext cx="19746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800" u="sng">
                <a:solidFill>
                  <a:schemeClr val="hlink"/>
                </a:solidFill>
                <a:hlinkClick r:id="rId6"/>
              </a:rPr>
              <a:t>Miro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a3f7dc0d85_2_0"/>
          <p:cNvSpPr txBox="1"/>
          <p:nvPr/>
        </p:nvSpPr>
        <p:spPr>
          <a:xfrm>
            <a:off x="6580825" y="1766450"/>
            <a:ext cx="36468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800" u="sng">
                <a:solidFill>
                  <a:schemeClr val="hlink"/>
                </a:solidFill>
                <a:hlinkClick r:id="rId7"/>
              </a:rPr>
              <a:t>Sitio Web Heroku</a:t>
            </a:r>
            <a:endParaRPr b="1"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g3a3f7dc0d85_2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2175" y="245000"/>
            <a:ext cx="7767648" cy="383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g3a3f7dc0d85_2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250" y="4751562"/>
            <a:ext cx="4904924" cy="1314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a3f7dc0d85_2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1625" y="4568562"/>
            <a:ext cx="4904927" cy="168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g3a3f7dc0d85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8650" y="311900"/>
            <a:ext cx="6479675" cy="33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a3f7dc0d85_4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225" y="3940250"/>
            <a:ext cx="8712527" cy="259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2025-09-02T18:33:49Z</dcterms:created>
  <dc:creator>alonzo tobar martinez</dc:creator>
</cp:coreProperties>
</file>