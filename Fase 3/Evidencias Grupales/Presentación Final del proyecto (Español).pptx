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92000"/>
  <p:notesSz cx="6858000" cy="9144000"/>
  <p:embeddedFontLst>
    <p:embeddedFont>
      <p:font typeface="Play"/>
      <p:regular r:id="rId29"/>
      <p:bold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iZuVT2e2OJZ8rvGpUr/hc4Wpa2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Play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customschemas.google.com/relationships/presentationmetadata" Target="metadata"/><Relationship Id="rId30" Type="http://schemas.openxmlformats.org/officeDocument/2006/relationships/font" Target="fonts/Play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8c43f1dadf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g38c43f1dadf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6" name="Google Shape;126;p2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p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2" name="Google Shape;152;p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p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5" name="Google Shape;185;p5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0" name="Google Shape;190;p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5" name="Google Shape;215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4" name="Google Shape;234;p4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8" name="Google Shape;288;p5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3" name="Google Shape;293;p5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8" name="Google Shape;298;p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3" name="Google Shape;313;p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7" name="Google Shape;327;p5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3" name="Google Shape;333;p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8c43f1dadf_1_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g38c43f1dadf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12.png"/><Relationship Id="rId11" Type="http://schemas.openxmlformats.org/officeDocument/2006/relationships/image" Target="../media/image26.png"/><Relationship Id="rId10" Type="http://schemas.openxmlformats.org/officeDocument/2006/relationships/image" Target="../media/image11.png"/><Relationship Id="rId9" Type="http://schemas.openxmlformats.org/officeDocument/2006/relationships/image" Target="../media/image4.jpg"/><Relationship Id="rId5" Type="http://schemas.openxmlformats.org/officeDocument/2006/relationships/image" Target="../media/image6.jpg"/><Relationship Id="rId6" Type="http://schemas.openxmlformats.org/officeDocument/2006/relationships/image" Target="../media/image7.png"/><Relationship Id="rId7" Type="http://schemas.openxmlformats.org/officeDocument/2006/relationships/image" Target="../media/image10.png"/><Relationship Id="rId8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2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Relationship Id="rId5" Type="http://schemas.openxmlformats.org/officeDocument/2006/relationships/image" Target="../media/image22.png"/><Relationship Id="rId6" Type="http://schemas.openxmlformats.org/officeDocument/2006/relationships/image" Target="../media/image2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651169" y="1110445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000">
                <a:latin typeface="Calibri"/>
                <a:ea typeface="Calibri"/>
                <a:cs typeface="Calibri"/>
                <a:sym typeface="Calibri"/>
              </a:rPr>
              <a:t>Sistema web de gestión y control de flota </a:t>
            </a:r>
            <a:endParaRPr sz="8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/>
          <p:nvPr>
            <p:ph idx="1" type="body"/>
          </p:nvPr>
        </p:nvSpPr>
        <p:spPr>
          <a:xfrm>
            <a:off x="5346192" y="4358636"/>
            <a:ext cx="3182112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0" lang="es-MX" sz="2400"/>
              <a:t>9 Historias de usuario</a:t>
            </a:r>
            <a:endParaRPr b="0" sz="2400"/>
          </a:p>
        </p:txBody>
      </p:sp>
      <p:sp>
        <p:nvSpPr>
          <p:cNvPr id="90" name="Google Shape;90;p5"/>
          <p:cNvSpPr txBox="1"/>
          <p:nvPr/>
        </p:nvSpPr>
        <p:spPr>
          <a:xfrm>
            <a:off x="2173224" y="2602993"/>
            <a:ext cx="2173224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17646"/>
              <a:buFont typeface="Arial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Necesidad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2173224" y="4113939"/>
            <a:ext cx="2173224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Toma de requisitos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2173224" y="1195676"/>
            <a:ext cx="2173224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17646"/>
              <a:buFont typeface="Arial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5346192" y="1122048"/>
            <a:ext cx="5641848" cy="1126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Futura pyme de transporte de personal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5"/>
          <p:cNvSpPr txBox="1"/>
          <p:nvPr/>
        </p:nvSpPr>
        <p:spPr>
          <a:xfrm>
            <a:off x="5346192" y="2532031"/>
            <a:ext cx="3340608" cy="8969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Solución tecnológica para gestionar flota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3998976" y="1195676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3999026" y="2605451"/>
            <a:ext cx="978300" cy="484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3999026" y="4361076"/>
            <a:ext cx="978300" cy="484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8c43f1dadf_0_59"/>
          <p:cNvSpPr txBox="1"/>
          <p:nvPr>
            <p:ph type="title"/>
          </p:nvPr>
        </p:nvSpPr>
        <p:spPr>
          <a:xfrm>
            <a:off x="4770120" y="365125"/>
            <a:ext cx="231648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s-MX" sz="4000"/>
              <a:t>Alcance </a:t>
            </a:r>
            <a:endParaRPr sz="4000"/>
          </a:p>
        </p:txBody>
      </p:sp>
      <p:sp>
        <p:nvSpPr>
          <p:cNvPr id="103" name="Google Shape;103;g38c43f1dadf_0_59"/>
          <p:cNvSpPr txBox="1"/>
          <p:nvPr>
            <p:ph idx="1" type="body"/>
          </p:nvPr>
        </p:nvSpPr>
        <p:spPr>
          <a:xfrm>
            <a:off x="2312730" y="1790109"/>
            <a:ext cx="8285166" cy="32777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Registro vehículos </a:t>
            </a:r>
            <a:endParaRPr sz="2400"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Registro choferes</a:t>
            </a:r>
            <a:endParaRPr sz="2400"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Registros pasajeros</a:t>
            </a:r>
            <a:endParaRPr sz="2400"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Itinerario viajes (Vista dueño del negocio, vista chofer)</a:t>
            </a:r>
            <a:endParaRPr sz="2400"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Sistema de optimización de rutas (API)</a:t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/>
          <p:nvPr>
            <p:ph type="title"/>
          </p:nvPr>
        </p:nvSpPr>
        <p:spPr>
          <a:xfrm>
            <a:off x="4494276" y="336393"/>
            <a:ext cx="3203448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s-MX" sz="4000"/>
              <a:t>Limitaciones </a:t>
            </a:r>
            <a:endParaRPr sz="4000"/>
          </a:p>
        </p:txBody>
      </p:sp>
      <p:sp>
        <p:nvSpPr>
          <p:cNvPr id="109" name="Google Shape;109;p21"/>
          <p:cNvSpPr txBox="1"/>
          <p:nvPr>
            <p:ph idx="1" type="body"/>
          </p:nvPr>
        </p:nvSpPr>
        <p:spPr>
          <a:xfrm>
            <a:off x="2696778" y="1918125"/>
            <a:ext cx="8285166" cy="32777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No tendrá otro formato aparte de página web</a:t>
            </a:r>
            <a:endParaRPr sz="2400"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No habrá sistema de seguimiento de vehículo</a:t>
            </a:r>
            <a:endParaRPr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Sistema de cálculo de boletas de bencina será desarrollado si hay tiempo</a:t>
            </a:r>
            <a:endParaRPr sz="2400"/>
          </a:p>
          <a:p>
            <a:pPr indent="-2286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t/>
            </a:r>
            <a:endParaRPr sz="2400"/>
          </a:p>
          <a:p>
            <a:pPr indent="-2286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t/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14250" y="2031387"/>
            <a:ext cx="1300481" cy="1300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82712" y="1972906"/>
            <a:ext cx="2086138" cy="13899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47995" y="4303581"/>
            <a:ext cx="1300481" cy="1300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825795" y="3971324"/>
            <a:ext cx="1916417" cy="18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4"/>
          <p:cNvPicPr preferRelativeResize="0"/>
          <p:nvPr/>
        </p:nvPicPr>
        <p:blipFill rotWithShape="1">
          <a:blip r:embed="rId7">
            <a:alphaModFix/>
          </a:blip>
          <a:srcRect b="24072" l="24675" r="27852" t="26622"/>
          <a:stretch/>
        </p:blipFill>
        <p:spPr>
          <a:xfrm>
            <a:off x="8002600" y="2133600"/>
            <a:ext cx="1084936" cy="112683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4"/>
          <p:cNvSpPr txBox="1"/>
          <p:nvPr/>
        </p:nvSpPr>
        <p:spPr>
          <a:xfrm>
            <a:off x="2907360" y="627339"/>
            <a:ext cx="6806515" cy="8978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454"/>
              <a:buFont typeface="Play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Herramientas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348481" y="2031387"/>
            <a:ext cx="1300481" cy="1300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132797" y="4334427"/>
            <a:ext cx="2084972" cy="1389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08354" y="4335661"/>
            <a:ext cx="1388748" cy="13887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721285" y="1888597"/>
            <a:ext cx="1496283" cy="158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45796" y="2161576"/>
            <a:ext cx="2700408" cy="253484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6"/>
          <p:cNvSpPr txBox="1"/>
          <p:nvPr/>
        </p:nvSpPr>
        <p:spPr>
          <a:xfrm>
            <a:off x="2963037" y="827178"/>
            <a:ext cx="7078495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4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Plataforma de Hosting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1"/>
          <p:cNvSpPr txBox="1"/>
          <p:nvPr>
            <p:ph type="ctrTitle"/>
          </p:nvPr>
        </p:nvSpPr>
        <p:spPr>
          <a:xfrm>
            <a:off x="1651169" y="1110445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000">
                <a:latin typeface="Calibri"/>
                <a:ea typeface="Calibri"/>
                <a:cs typeface="Calibri"/>
                <a:sym typeface="Calibri"/>
              </a:rPr>
              <a:t>Planificación </a:t>
            </a:r>
            <a:endParaRPr sz="8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42385" y="3377264"/>
            <a:ext cx="1332921" cy="1332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31400" y="1612975"/>
            <a:ext cx="2973908" cy="167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0160" y="5047953"/>
            <a:ext cx="2595101" cy="88761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5"/>
          <p:cNvSpPr txBox="1"/>
          <p:nvPr/>
        </p:nvSpPr>
        <p:spPr>
          <a:xfrm>
            <a:off x="2267712" y="919618"/>
            <a:ext cx="7078495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4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Herramientas de Planificación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5"/>
          <p:cNvSpPr txBox="1"/>
          <p:nvPr/>
        </p:nvSpPr>
        <p:spPr>
          <a:xfrm>
            <a:off x="7201526" y="2378474"/>
            <a:ext cx="3652402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Backlog y Criterios de aceptación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/>
        </p:nvSpPr>
        <p:spPr>
          <a:xfrm>
            <a:off x="7201526" y="3837330"/>
            <a:ext cx="7078495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Bitácora semanal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5"/>
          <p:cNvSpPr txBox="1"/>
          <p:nvPr/>
        </p:nvSpPr>
        <p:spPr>
          <a:xfrm>
            <a:off x="7201526" y="5530485"/>
            <a:ext cx="2595101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Diagramas C4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6" name="Google Shape;146;p25"/>
          <p:cNvCxnSpPr/>
          <p:nvPr/>
        </p:nvCxnSpPr>
        <p:spPr>
          <a:xfrm>
            <a:off x="5177913" y="2552656"/>
            <a:ext cx="1092462" cy="4308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</p:cxnSp>
      <p:cxnSp>
        <p:nvCxnSpPr>
          <p:cNvPr id="147" name="Google Shape;147;p25"/>
          <p:cNvCxnSpPr/>
          <p:nvPr/>
        </p:nvCxnSpPr>
        <p:spPr>
          <a:xfrm>
            <a:off x="5177913" y="4013666"/>
            <a:ext cx="1092462" cy="4308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</p:cxnSp>
      <p:cxnSp>
        <p:nvCxnSpPr>
          <p:cNvPr id="148" name="Google Shape;148;p25"/>
          <p:cNvCxnSpPr/>
          <p:nvPr/>
        </p:nvCxnSpPr>
        <p:spPr>
          <a:xfrm>
            <a:off x="5177913" y="5608392"/>
            <a:ext cx="1092462" cy="4308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</p:cxnSp>
      <p:pic>
        <p:nvPicPr>
          <p:cNvPr id="149" name="Google Shape;149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17433" y="5047953"/>
            <a:ext cx="908308" cy="908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1"/>
          <p:cNvSpPr txBox="1"/>
          <p:nvPr/>
        </p:nvSpPr>
        <p:spPr>
          <a:xfrm>
            <a:off x="4696015" y="534712"/>
            <a:ext cx="279996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s-MX" sz="4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Roadmap</a:t>
            </a:r>
            <a:endParaRPr b="0" i="0" sz="4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5" name="Google Shape;155;p31"/>
          <p:cNvSpPr txBox="1"/>
          <p:nvPr/>
        </p:nvSpPr>
        <p:spPr>
          <a:xfrm>
            <a:off x="2176525" y="3156041"/>
            <a:ext cx="217831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Fase inicial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1"/>
          <p:cNvSpPr txBox="1"/>
          <p:nvPr/>
        </p:nvSpPr>
        <p:spPr>
          <a:xfrm>
            <a:off x="2176525" y="4221424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Sprints</a:t>
            </a:r>
            <a:endParaRPr b="0" i="0" sz="2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7" name="Google Shape;157;p31"/>
          <p:cNvSpPr txBox="1"/>
          <p:nvPr/>
        </p:nvSpPr>
        <p:spPr>
          <a:xfrm>
            <a:off x="6599872" y="3360312"/>
            <a:ext cx="4007168" cy="20792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4 sprints de 3 semanas cada uno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1"/>
          <p:cNvSpPr txBox="1"/>
          <p:nvPr/>
        </p:nvSpPr>
        <p:spPr>
          <a:xfrm>
            <a:off x="6599872" y="5286808"/>
            <a:ext cx="244553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 semana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1"/>
          <p:cNvSpPr txBox="1"/>
          <p:nvPr/>
        </p:nvSpPr>
        <p:spPr>
          <a:xfrm>
            <a:off x="2176525" y="5286808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Cierre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1"/>
          <p:cNvSpPr txBox="1"/>
          <p:nvPr/>
        </p:nvSpPr>
        <p:spPr>
          <a:xfrm>
            <a:off x="6599872" y="3156041"/>
            <a:ext cx="244553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2 semanas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31"/>
          <p:cNvSpPr/>
          <p:nvPr/>
        </p:nvSpPr>
        <p:spPr>
          <a:xfrm>
            <a:off x="4802123" y="3092215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1"/>
          <p:cNvSpPr/>
          <p:nvPr/>
        </p:nvSpPr>
        <p:spPr>
          <a:xfrm>
            <a:off x="4802123" y="4157598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1"/>
          <p:cNvSpPr/>
          <p:nvPr/>
        </p:nvSpPr>
        <p:spPr>
          <a:xfrm>
            <a:off x="4802123" y="5222982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1"/>
          <p:cNvSpPr txBox="1"/>
          <p:nvPr/>
        </p:nvSpPr>
        <p:spPr>
          <a:xfrm>
            <a:off x="2176525" y="2090657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Duración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1"/>
          <p:cNvSpPr/>
          <p:nvPr/>
        </p:nvSpPr>
        <p:spPr>
          <a:xfrm>
            <a:off x="4802123" y="2026831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1"/>
          <p:cNvSpPr txBox="1"/>
          <p:nvPr/>
        </p:nvSpPr>
        <p:spPr>
          <a:xfrm>
            <a:off x="6599872" y="2128555"/>
            <a:ext cx="244553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15 semanas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3"/>
          <p:cNvSpPr txBox="1"/>
          <p:nvPr/>
        </p:nvSpPr>
        <p:spPr>
          <a:xfrm>
            <a:off x="4271332" y="2467991"/>
            <a:ext cx="3514863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Tareas pendientes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3"/>
          <p:cNvSpPr txBox="1"/>
          <p:nvPr/>
        </p:nvSpPr>
        <p:spPr>
          <a:xfrm>
            <a:off x="3901942" y="1063847"/>
            <a:ext cx="4388116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Organización semanal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3"/>
          <p:cNvSpPr txBox="1"/>
          <p:nvPr/>
        </p:nvSpPr>
        <p:spPr>
          <a:xfrm>
            <a:off x="5035799" y="5258683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3"/>
          <p:cNvSpPr txBox="1"/>
          <p:nvPr/>
        </p:nvSpPr>
        <p:spPr>
          <a:xfrm>
            <a:off x="3923602" y="3786278"/>
            <a:ext cx="4210325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Desarrollo funcionalidad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3"/>
          <p:cNvSpPr/>
          <p:nvPr/>
        </p:nvSpPr>
        <p:spPr>
          <a:xfrm>
            <a:off x="5477256" y="1706021"/>
            <a:ext cx="484632" cy="614311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3"/>
          <p:cNvSpPr/>
          <p:nvPr/>
        </p:nvSpPr>
        <p:spPr>
          <a:xfrm>
            <a:off x="5477256" y="2972631"/>
            <a:ext cx="484632" cy="614311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3"/>
          <p:cNvSpPr/>
          <p:nvPr/>
        </p:nvSpPr>
        <p:spPr>
          <a:xfrm>
            <a:off x="5477256" y="4393815"/>
            <a:ext cx="484632" cy="614311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2"/>
          <p:cNvSpPr txBox="1"/>
          <p:nvPr>
            <p:ph type="ctrTitle"/>
          </p:nvPr>
        </p:nvSpPr>
        <p:spPr>
          <a:xfrm>
            <a:off x="1651169" y="1110445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000">
                <a:latin typeface="Calibri"/>
                <a:ea typeface="Calibri"/>
                <a:cs typeface="Calibri"/>
                <a:sym typeface="Calibri"/>
              </a:rPr>
              <a:t>Sitio web RouteAnvil</a:t>
            </a:r>
            <a:endParaRPr sz="8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3"/>
          <p:cNvSpPr txBox="1"/>
          <p:nvPr>
            <p:ph idx="1" type="body"/>
          </p:nvPr>
        </p:nvSpPr>
        <p:spPr>
          <a:xfrm>
            <a:off x="5346192" y="4358636"/>
            <a:ext cx="4056426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0" lang="es-MX" sz="2400"/>
              <a:t>Página web resp</a:t>
            </a:r>
            <a:r>
              <a:rPr lang="es-MX" sz="2400"/>
              <a:t>onsiva</a:t>
            </a:r>
            <a:endParaRPr b="0" sz="2400"/>
          </a:p>
        </p:txBody>
      </p:sp>
      <p:sp>
        <p:nvSpPr>
          <p:cNvPr id="193" name="Google Shape;193;p53"/>
          <p:cNvSpPr txBox="1"/>
          <p:nvPr/>
        </p:nvSpPr>
        <p:spPr>
          <a:xfrm>
            <a:off x="1825702" y="2789545"/>
            <a:ext cx="2173224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17646"/>
              <a:buFont typeface="Arial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53"/>
          <p:cNvSpPr txBox="1"/>
          <p:nvPr/>
        </p:nvSpPr>
        <p:spPr>
          <a:xfrm>
            <a:off x="1825752" y="4224775"/>
            <a:ext cx="2173224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Interacción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53"/>
          <p:cNvSpPr txBox="1"/>
          <p:nvPr/>
        </p:nvSpPr>
        <p:spPr>
          <a:xfrm>
            <a:off x="1641348" y="1204334"/>
            <a:ext cx="2173224" cy="48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17646"/>
              <a:buFont typeface="Arial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Administración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3"/>
          <p:cNvSpPr txBox="1"/>
          <p:nvPr/>
        </p:nvSpPr>
        <p:spPr>
          <a:xfrm>
            <a:off x="5346192" y="982975"/>
            <a:ext cx="5641848" cy="1126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de choferes, vehículos, pasajeros y paraderos.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3"/>
          <p:cNvSpPr txBox="1"/>
          <p:nvPr/>
        </p:nvSpPr>
        <p:spPr>
          <a:xfrm>
            <a:off x="5346192" y="2559903"/>
            <a:ext cx="4315044" cy="8969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Generación de viajes en base a la información entregada.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3"/>
          <p:cNvSpPr/>
          <p:nvPr/>
        </p:nvSpPr>
        <p:spPr>
          <a:xfrm>
            <a:off x="3998976" y="1195676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53"/>
          <p:cNvSpPr/>
          <p:nvPr/>
        </p:nvSpPr>
        <p:spPr>
          <a:xfrm>
            <a:off x="3998976" y="2794440"/>
            <a:ext cx="978300" cy="484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53"/>
          <p:cNvSpPr/>
          <p:nvPr/>
        </p:nvSpPr>
        <p:spPr>
          <a:xfrm>
            <a:off x="3999026" y="4361076"/>
            <a:ext cx="978300" cy="484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50717" y="865251"/>
            <a:ext cx="104775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50717" y="5285803"/>
            <a:ext cx="104775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26954" y="1880807"/>
            <a:ext cx="2952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3826953" y="4348258"/>
            <a:ext cx="2952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0">
            <a:off x="5760530" y="3105339"/>
            <a:ext cx="295275" cy="102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40"/>
          <p:cNvSpPr/>
          <p:nvPr/>
        </p:nvSpPr>
        <p:spPr>
          <a:xfrm>
            <a:off x="2780776" y="2909507"/>
            <a:ext cx="2387628" cy="1389316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Sistema de administración de transporte y planificación de rutas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40"/>
          <p:cNvSpPr/>
          <p:nvPr/>
        </p:nvSpPr>
        <p:spPr>
          <a:xfrm>
            <a:off x="6647931" y="3204115"/>
            <a:ext cx="1889760" cy="800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Google Maps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0"/>
          <p:cNvSpPr txBox="1"/>
          <p:nvPr/>
        </p:nvSpPr>
        <p:spPr>
          <a:xfrm>
            <a:off x="198256" y="157365"/>
            <a:ext cx="279996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s-MX" sz="4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Contexto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2"/>
          <p:cNvSpPr/>
          <p:nvPr/>
        </p:nvSpPr>
        <p:spPr>
          <a:xfrm>
            <a:off x="1490472" y="1542289"/>
            <a:ext cx="8915400" cy="4748783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28407" y="177939"/>
            <a:ext cx="104775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11590" y="176452"/>
            <a:ext cx="1047750" cy="10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42"/>
          <p:cNvSpPr/>
          <p:nvPr/>
        </p:nvSpPr>
        <p:spPr>
          <a:xfrm>
            <a:off x="6343837" y="1968433"/>
            <a:ext cx="2064641" cy="778574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Interfaz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s-MX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[UI HTTP - JS - Bootstrap]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2"/>
          <p:cNvSpPr/>
          <p:nvPr/>
        </p:nvSpPr>
        <p:spPr>
          <a:xfrm>
            <a:off x="3252215" y="1968433"/>
            <a:ext cx="2064641" cy="761431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Plataforma Heroku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s-MX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[Heroku]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2"/>
          <p:cNvSpPr/>
          <p:nvPr/>
        </p:nvSpPr>
        <p:spPr>
          <a:xfrm>
            <a:off x="6343838" y="3792850"/>
            <a:ext cx="2064641" cy="761431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Aplicación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s-MX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[Django - Python]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2"/>
          <p:cNvSpPr/>
          <p:nvPr/>
        </p:nvSpPr>
        <p:spPr>
          <a:xfrm>
            <a:off x="3252212" y="3792850"/>
            <a:ext cx="2064641" cy="761431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Servidor HTTP WSGI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s-MX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[Gunicorn]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2"/>
          <p:cNvSpPr/>
          <p:nvPr/>
        </p:nvSpPr>
        <p:spPr>
          <a:xfrm>
            <a:off x="6618352" y="5315712"/>
            <a:ext cx="1329309" cy="761430"/>
          </a:xfrm>
          <a:prstGeom prst="flowChartMagneticDisk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s-MX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[PostgreSQL]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2"/>
          <p:cNvSpPr txBox="1"/>
          <p:nvPr/>
        </p:nvSpPr>
        <p:spPr>
          <a:xfrm>
            <a:off x="194446" y="177939"/>
            <a:ext cx="341552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s-MX" sz="4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Contenedores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6" name="Google Shape;226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28522" y="982315"/>
            <a:ext cx="2952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5400000">
            <a:off x="5683569" y="1868805"/>
            <a:ext cx="2952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136896" y="2747007"/>
            <a:ext cx="2952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5400000">
            <a:off x="5683566" y="3659214"/>
            <a:ext cx="295275" cy="10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54226" y="4554281"/>
            <a:ext cx="295275" cy="76143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2"/>
          <p:cNvSpPr txBox="1"/>
          <p:nvPr/>
        </p:nvSpPr>
        <p:spPr>
          <a:xfrm>
            <a:off x="1585982" y="5847470"/>
            <a:ext cx="2023993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Sistema de software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5"/>
          <p:cNvSpPr/>
          <p:nvPr/>
        </p:nvSpPr>
        <p:spPr>
          <a:xfrm>
            <a:off x="1741553" y="2415919"/>
            <a:ext cx="8470392" cy="3432805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5"/>
          <p:cNvSpPr txBox="1"/>
          <p:nvPr/>
        </p:nvSpPr>
        <p:spPr>
          <a:xfrm>
            <a:off x="194446" y="177939"/>
            <a:ext cx="341552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s-MX" sz="4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Componentes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5"/>
          <p:cNvSpPr/>
          <p:nvPr/>
        </p:nvSpPr>
        <p:spPr>
          <a:xfrm>
            <a:off x="6019993" y="2585202"/>
            <a:ext cx="1061083" cy="417195"/>
          </a:xfrm>
          <a:prstGeom prst="rect">
            <a:avLst/>
          </a:prstGeom>
          <a:solidFill>
            <a:srgbClr val="C7EDF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Templates Django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5"/>
          <p:cNvSpPr/>
          <p:nvPr/>
        </p:nvSpPr>
        <p:spPr>
          <a:xfrm>
            <a:off x="5230177" y="6127072"/>
            <a:ext cx="1132332" cy="623126"/>
          </a:xfrm>
          <a:prstGeom prst="flowChartMagneticDisk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5"/>
          <p:cNvSpPr/>
          <p:nvPr/>
        </p:nvSpPr>
        <p:spPr>
          <a:xfrm>
            <a:off x="5976749" y="3924681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Vehículos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5"/>
          <p:cNvSpPr/>
          <p:nvPr/>
        </p:nvSpPr>
        <p:spPr>
          <a:xfrm>
            <a:off x="4633724" y="3923724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Choferes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5"/>
          <p:cNvSpPr/>
          <p:nvPr/>
        </p:nvSpPr>
        <p:spPr>
          <a:xfrm>
            <a:off x="7195949" y="3924681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Paraderos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5"/>
          <p:cNvSpPr/>
          <p:nvPr/>
        </p:nvSpPr>
        <p:spPr>
          <a:xfrm>
            <a:off x="3290699" y="3923724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Pasajeros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45"/>
          <p:cNvSpPr/>
          <p:nvPr/>
        </p:nvSpPr>
        <p:spPr>
          <a:xfrm>
            <a:off x="8392290" y="3924680"/>
            <a:ext cx="1061083" cy="417195"/>
          </a:xfrm>
          <a:prstGeom prst="rect">
            <a:avLst/>
          </a:prstGeom>
          <a:solidFill>
            <a:srgbClr val="81E49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Rutas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5"/>
          <p:cNvSpPr/>
          <p:nvPr/>
        </p:nvSpPr>
        <p:spPr>
          <a:xfrm>
            <a:off x="1936241" y="3923724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Usuarios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5"/>
          <p:cNvSpPr/>
          <p:nvPr/>
        </p:nvSpPr>
        <p:spPr>
          <a:xfrm>
            <a:off x="1936240" y="3147435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Sistema inicio sesión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45"/>
          <p:cNvSpPr/>
          <p:nvPr/>
        </p:nvSpPr>
        <p:spPr>
          <a:xfrm>
            <a:off x="1936240" y="4740335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Aplicación Users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5"/>
          <p:cNvSpPr/>
          <p:nvPr/>
        </p:nvSpPr>
        <p:spPr>
          <a:xfrm>
            <a:off x="8392289" y="3147435"/>
            <a:ext cx="1061083" cy="417195"/>
          </a:xfrm>
          <a:prstGeom prst="rect">
            <a:avLst/>
          </a:prstGeom>
          <a:solidFill>
            <a:srgbClr val="81E49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Optimización Rutas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5"/>
          <p:cNvSpPr/>
          <p:nvPr/>
        </p:nvSpPr>
        <p:spPr>
          <a:xfrm>
            <a:off x="5301426" y="4837042"/>
            <a:ext cx="1061083" cy="417195"/>
          </a:xfrm>
          <a:prstGeom prst="rect">
            <a:avLst/>
          </a:prstGeom>
          <a:solidFill>
            <a:srgbClr val="F6C5AB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Aplicación RouteAnvil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5"/>
          <p:cNvSpPr/>
          <p:nvPr/>
        </p:nvSpPr>
        <p:spPr>
          <a:xfrm>
            <a:off x="8316372" y="1677809"/>
            <a:ext cx="1212914" cy="417195"/>
          </a:xfrm>
          <a:prstGeom prst="rect">
            <a:avLst/>
          </a:prstGeom>
          <a:solidFill>
            <a:srgbClr val="81E49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Google Maps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45"/>
          <p:cNvSpPr/>
          <p:nvPr/>
        </p:nvSpPr>
        <p:spPr>
          <a:xfrm>
            <a:off x="6019991" y="387292"/>
            <a:ext cx="1061083" cy="417195"/>
          </a:xfrm>
          <a:prstGeom prst="rect">
            <a:avLst/>
          </a:prstGeom>
          <a:solidFill>
            <a:srgbClr val="C7EDF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Interfaz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5"/>
          <p:cNvSpPr txBox="1"/>
          <p:nvPr/>
        </p:nvSpPr>
        <p:spPr>
          <a:xfrm>
            <a:off x="1797247" y="5540947"/>
            <a:ext cx="2023993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MX" sz="14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Aplicación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3" name="Google Shape;253;p45"/>
          <p:cNvCxnSpPr/>
          <p:nvPr/>
        </p:nvCxnSpPr>
        <p:spPr>
          <a:xfrm rot="10800000">
            <a:off x="6522340" y="3082868"/>
            <a:ext cx="0" cy="29126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4" name="Google Shape;254;p45"/>
          <p:cNvCxnSpPr/>
          <p:nvPr/>
        </p:nvCxnSpPr>
        <p:spPr>
          <a:xfrm>
            <a:off x="2997323" y="3374136"/>
            <a:ext cx="5319049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5" name="Google Shape;255;p45"/>
          <p:cNvSpPr/>
          <p:nvPr/>
        </p:nvSpPr>
        <p:spPr>
          <a:xfrm>
            <a:off x="6019992" y="1038479"/>
            <a:ext cx="1061083" cy="417195"/>
          </a:xfrm>
          <a:prstGeom prst="rect">
            <a:avLst/>
          </a:prstGeom>
          <a:solidFill>
            <a:srgbClr val="C7EDF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Plataforma Heroku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45"/>
          <p:cNvSpPr/>
          <p:nvPr/>
        </p:nvSpPr>
        <p:spPr>
          <a:xfrm>
            <a:off x="5996561" y="1686304"/>
            <a:ext cx="1061083" cy="417195"/>
          </a:xfrm>
          <a:prstGeom prst="rect">
            <a:avLst/>
          </a:prstGeom>
          <a:solidFill>
            <a:srgbClr val="C7EDF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s-MX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Servidor HTTP WSGI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7" name="Google Shape;257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58605" y="214881"/>
            <a:ext cx="789305" cy="8180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3205" y="214882"/>
            <a:ext cx="789305" cy="8180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9" name="Google Shape;259;p45"/>
          <p:cNvCxnSpPr/>
          <p:nvPr/>
        </p:nvCxnSpPr>
        <p:spPr>
          <a:xfrm flipH="1" rot="10800000">
            <a:off x="6522340" y="2159571"/>
            <a:ext cx="4762" cy="40198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60" name="Google Shape;260;p45"/>
          <p:cNvCxnSpPr/>
          <p:nvPr/>
        </p:nvCxnSpPr>
        <p:spPr>
          <a:xfrm rot="10800000">
            <a:off x="6522340" y="1481328"/>
            <a:ext cx="0" cy="20497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61" name="Google Shape;261;p45"/>
          <p:cNvCxnSpPr/>
          <p:nvPr/>
        </p:nvCxnSpPr>
        <p:spPr>
          <a:xfrm rot="10800000">
            <a:off x="7195949" y="599381"/>
            <a:ext cx="411859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62" name="Google Shape;262;p45"/>
          <p:cNvCxnSpPr/>
          <p:nvPr/>
        </p:nvCxnSpPr>
        <p:spPr>
          <a:xfrm rot="10800000">
            <a:off x="6522340" y="827913"/>
            <a:ext cx="0" cy="20497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63" name="Google Shape;263;p45"/>
          <p:cNvCxnSpPr/>
          <p:nvPr/>
        </p:nvCxnSpPr>
        <p:spPr>
          <a:xfrm>
            <a:off x="3821240" y="3374136"/>
            <a:ext cx="0" cy="5242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4" name="Google Shape;264;p45"/>
          <p:cNvCxnSpPr/>
          <p:nvPr/>
        </p:nvCxnSpPr>
        <p:spPr>
          <a:xfrm>
            <a:off x="5162360" y="3378702"/>
            <a:ext cx="0" cy="5242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5" name="Google Shape;265;p45"/>
          <p:cNvCxnSpPr/>
          <p:nvPr/>
        </p:nvCxnSpPr>
        <p:spPr>
          <a:xfrm>
            <a:off x="6522340" y="3374136"/>
            <a:ext cx="0" cy="54958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45"/>
          <p:cNvCxnSpPr/>
          <p:nvPr/>
        </p:nvCxnSpPr>
        <p:spPr>
          <a:xfrm>
            <a:off x="7722680" y="3374136"/>
            <a:ext cx="0" cy="5242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7" name="Google Shape;267;p45"/>
          <p:cNvCxnSpPr/>
          <p:nvPr/>
        </p:nvCxnSpPr>
        <p:spPr>
          <a:xfrm>
            <a:off x="3798952" y="4655242"/>
            <a:ext cx="509016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8" name="Google Shape;268;p45"/>
          <p:cNvCxnSpPr/>
          <p:nvPr/>
        </p:nvCxnSpPr>
        <p:spPr>
          <a:xfrm>
            <a:off x="3798952" y="4340919"/>
            <a:ext cx="0" cy="314323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9" name="Google Shape;269;p45"/>
          <p:cNvCxnSpPr/>
          <p:nvPr/>
        </p:nvCxnSpPr>
        <p:spPr>
          <a:xfrm>
            <a:off x="5145216" y="4340919"/>
            <a:ext cx="0" cy="314323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0" name="Google Shape;270;p45"/>
          <p:cNvCxnSpPr/>
          <p:nvPr/>
        </p:nvCxnSpPr>
        <p:spPr>
          <a:xfrm>
            <a:off x="6522340" y="4340919"/>
            <a:ext cx="0" cy="314323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1" name="Google Shape;271;p45"/>
          <p:cNvCxnSpPr/>
          <p:nvPr/>
        </p:nvCxnSpPr>
        <p:spPr>
          <a:xfrm>
            <a:off x="7732968" y="4340919"/>
            <a:ext cx="0" cy="314323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2" name="Google Shape;272;p45"/>
          <p:cNvCxnSpPr/>
          <p:nvPr/>
        </p:nvCxnSpPr>
        <p:spPr>
          <a:xfrm>
            <a:off x="8889112" y="4340919"/>
            <a:ext cx="0" cy="314323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3" name="Google Shape;273;p45"/>
          <p:cNvCxnSpPr/>
          <p:nvPr/>
        </p:nvCxnSpPr>
        <p:spPr>
          <a:xfrm>
            <a:off x="8922829" y="2159571"/>
            <a:ext cx="0" cy="923297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4" name="Google Shape;274;p45"/>
          <p:cNvCxnSpPr/>
          <p:nvPr/>
        </p:nvCxnSpPr>
        <p:spPr>
          <a:xfrm>
            <a:off x="2446590" y="3564630"/>
            <a:ext cx="0" cy="33375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5" name="Google Shape;275;p45"/>
          <p:cNvCxnSpPr/>
          <p:nvPr/>
        </p:nvCxnSpPr>
        <p:spPr>
          <a:xfrm>
            <a:off x="2446590" y="4340919"/>
            <a:ext cx="0" cy="33375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6" name="Google Shape;276;p45"/>
          <p:cNvCxnSpPr/>
          <p:nvPr/>
        </p:nvCxnSpPr>
        <p:spPr>
          <a:xfrm>
            <a:off x="5799390" y="5254237"/>
            <a:ext cx="0" cy="77809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7" name="Google Shape;277;p45"/>
          <p:cNvCxnSpPr/>
          <p:nvPr/>
        </p:nvCxnSpPr>
        <p:spPr>
          <a:xfrm>
            <a:off x="2446590" y="5157530"/>
            <a:ext cx="0" cy="314323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8" name="Google Shape;278;p45"/>
          <p:cNvCxnSpPr/>
          <p:nvPr/>
        </p:nvCxnSpPr>
        <p:spPr>
          <a:xfrm>
            <a:off x="2446590" y="5471853"/>
            <a:ext cx="3349753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9" name="Google Shape;279;p45"/>
          <p:cNvCxnSpPr/>
          <p:nvPr/>
        </p:nvCxnSpPr>
        <p:spPr>
          <a:xfrm>
            <a:off x="8922829" y="3583935"/>
            <a:ext cx="0" cy="247401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8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75400" y="223275"/>
            <a:ext cx="5134375" cy="6582525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8"/>
          <p:cNvSpPr txBox="1"/>
          <p:nvPr>
            <p:ph type="title"/>
          </p:nvPr>
        </p:nvSpPr>
        <p:spPr>
          <a:xfrm>
            <a:off x="272750" y="223275"/>
            <a:ext cx="1557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MX"/>
              <a:t>B.D.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/>
          <p:nvPr>
            <p:ph type="ctrTitle"/>
          </p:nvPr>
        </p:nvSpPr>
        <p:spPr>
          <a:xfrm>
            <a:off x="1651169" y="1110445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000">
                <a:latin typeface="Calibri"/>
                <a:ea typeface="Calibri"/>
                <a:cs typeface="Calibri"/>
                <a:sym typeface="Calibri"/>
              </a:rPr>
              <a:t>Demostración </a:t>
            </a:r>
            <a:endParaRPr sz="8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5"/>
          <p:cNvSpPr txBox="1"/>
          <p:nvPr>
            <p:ph type="ctrTitle"/>
          </p:nvPr>
        </p:nvSpPr>
        <p:spPr>
          <a:xfrm>
            <a:off x="1651169" y="1110445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000">
                <a:latin typeface="Calibri"/>
                <a:ea typeface="Calibri"/>
                <a:cs typeface="Calibri"/>
                <a:sym typeface="Calibri"/>
              </a:rPr>
              <a:t>Métricas</a:t>
            </a:r>
            <a:endParaRPr sz="8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8"/>
          <p:cNvSpPr txBox="1"/>
          <p:nvPr/>
        </p:nvSpPr>
        <p:spPr>
          <a:xfrm>
            <a:off x="3084642" y="966770"/>
            <a:ext cx="6699438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4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Herramientas para 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1" name="Google Shape;30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34064" y="2002173"/>
            <a:ext cx="2211707" cy="1262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95618" y="3751660"/>
            <a:ext cx="2607050" cy="911754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8"/>
          <p:cNvSpPr txBox="1"/>
          <p:nvPr/>
        </p:nvSpPr>
        <p:spPr>
          <a:xfrm>
            <a:off x="7192273" y="2454994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Unitarias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8"/>
          <p:cNvSpPr txBox="1"/>
          <p:nvPr/>
        </p:nvSpPr>
        <p:spPr>
          <a:xfrm>
            <a:off x="7192273" y="4029047"/>
            <a:ext cx="1511808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5" name="Google Shape;305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66310" y="5088463"/>
            <a:ext cx="947214" cy="994791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8"/>
          <p:cNvSpPr txBox="1"/>
          <p:nvPr/>
        </p:nvSpPr>
        <p:spPr>
          <a:xfrm>
            <a:off x="7192273" y="5407368"/>
            <a:ext cx="1511808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7" name="Google Shape;307;p28"/>
          <p:cNvCxnSpPr/>
          <p:nvPr/>
        </p:nvCxnSpPr>
        <p:spPr>
          <a:xfrm>
            <a:off x="5724144" y="2631330"/>
            <a:ext cx="1092462" cy="4308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</p:cxnSp>
      <p:cxnSp>
        <p:nvCxnSpPr>
          <p:cNvPr id="308" name="Google Shape;308;p28"/>
          <p:cNvCxnSpPr/>
          <p:nvPr/>
        </p:nvCxnSpPr>
        <p:spPr>
          <a:xfrm>
            <a:off x="5724144" y="5583704"/>
            <a:ext cx="1092462" cy="4308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</p:cxnSp>
      <p:cxnSp>
        <p:nvCxnSpPr>
          <p:cNvPr id="309" name="Google Shape;309;p28"/>
          <p:cNvCxnSpPr/>
          <p:nvPr/>
        </p:nvCxnSpPr>
        <p:spPr>
          <a:xfrm>
            <a:off x="5724144" y="4205383"/>
            <a:ext cx="1092462" cy="4308"/>
          </a:xfrm>
          <a:prstGeom prst="straightConnector1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</p:cxnSp>
      <p:pic>
        <p:nvPicPr>
          <p:cNvPr descr="behave 1.4.0.dev0 documentation" id="310" name="Google Shape;310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95213" y="3629470"/>
            <a:ext cx="1209029" cy="11561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7"/>
          <p:cNvSpPr txBox="1"/>
          <p:nvPr/>
        </p:nvSpPr>
        <p:spPr>
          <a:xfrm>
            <a:off x="4696015" y="534712"/>
            <a:ext cx="279996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s-MX" sz="4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7"/>
          <p:cNvSpPr txBox="1"/>
          <p:nvPr/>
        </p:nvSpPr>
        <p:spPr>
          <a:xfrm>
            <a:off x="2878489" y="3248654"/>
            <a:ext cx="217831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47"/>
          <p:cNvSpPr txBox="1"/>
          <p:nvPr/>
        </p:nvSpPr>
        <p:spPr>
          <a:xfrm>
            <a:off x="2878489" y="4279090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47"/>
          <p:cNvSpPr txBox="1"/>
          <p:nvPr/>
        </p:nvSpPr>
        <p:spPr>
          <a:xfrm>
            <a:off x="7301836" y="4163193"/>
            <a:ext cx="2022920" cy="58877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55 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47"/>
          <p:cNvSpPr txBox="1"/>
          <p:nvPr/>
        </p:nvSpPr>
        <p:spPr>
          <a:xfrm>
            <a:off x="7301836" y="3248654"/>
            <a:ext cx="244553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 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47"/>
          <p:cNvSpPr/>
          <p:nvPr/>
        </p:nvSpPr>
        <p:spPr>
          <a:xfrm>
            <a:off x="5527047" y="3184828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47"/>
          <p:cNvSpPr/>
          <p:nvPr/>
        </p:nvSpPr>
        <p:spPr>
          <a:xfrm>
            <a:off x="5527047" y="4215264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7"/>
          <p:cNvSpPr txBox="1"/>
          <p:nvPr/>
        </p:nvSpPr>
        <p:spPr>
          <a:xfrm>
            <a:off x="2878489" y="2238439"/>
            <a:ext cx="1852177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Unitarias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7"/>
          <p:cNvSpPr/>
          <p:nvPr/>
        </p:nvSpPr>
        <p:spPr>
          <a:xfrm>
            <a:off x="5527047" y="2174613"/>
            <a:ext cx="978408" cy="484632"/>
          </a:xfrm>
          <a:prstGeom prst="rightArrow">
            <a:avLst>
              <a:gd fmla="val 50000" name="adj1"/>
              <a:gd fmla="val 50000" name="adj2"/>
            </a:avLst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7254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7"/>
          <p:cNvSpPr txBox="1"/>
          <p:nvPr/>
        </p:nvSpPr>
        <p:spPr>
          <a:xfrm>
            <a:off x="7301836" y="2238439"/>
            <a:ext cx="2445534" cy="356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</a:pPr>
            <a:r>
              <a:rPr b="0" i="0" lang="es-MX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55 pruebas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6"/>
          <p:cNvSpPr txBox="1"/>
          <p:nvPr>
            <p:ph type="title"/>
          </p:nvPr>
        </p:nvSpPr>
        <p:spPr>
          <a:xfrm>
            <a:off x="2078182" y="365125"/>
            <a:ext cx="7278254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s-MX" sz="4000">
                <a:latin typeface="Calibri"/>
                <a:ea typeface="Calibri"/>
                <a:cs typeface="Calibri"/>
                <a:sym typeface="Calibri"/>
              </a:rPr>
              <a:t>Cambios en el proyecto </a:t>
            </a:r>
            <a:endParaRPr sz="4000"/>
          </a:p>
        </p:txBody>
      </p:sp>
      <p:sp>
        <p:nvSpPr>
          <p:cNvPr id="330" name="Google Shape;330;p56"/>
          <p:cNvSpPr txBox="1"/>
          <p:nvPr>
            <p:ph idx="1" type="body"/>
          </p:nvPr>
        </p:nvSpPr>
        <p:spPr>
          <a:xfrm>
            <a:off x="2312730" y="1790109"/>
            <a:ext cx="8285166" cy="32777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Herramientas</a:t>
            </a:r>
            <a:endParaRPr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Diagramas</a:t>
            </a:r>
            <a:endParaRPr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Validaciones </a:t>
            </a:r>
            <a:endParaRPr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Nuevas funcionalidades</a:t>
            </a:r>
            <a:endParaRPr/>
          </a:p>
          <a:p>
            <a:pPr indent="-406400" lvl="0" marL="457200" rtl="0" algn="just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Cambios en las pruebas</a:t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7"/>
          <p:cNvSpPr txBox="1"/>
          <p:nvPr>
            <p:ph idx="1" type="body"/>
          </p:nvPr>
        </p:nvSpPr>
        <p:spPr>
          <a:xfrm>
            <a:off x="2312730" y="1790109"/>
            <a:ext cx="7948870" cy="32777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Generación de viajes por medio de API.</a:t>
            </a:r>
            <a:endParaRPr/>
          </a:p>
          <a:p>
            <a:pPr indent="-406400" lvl="0" marL="457200" rtl="0" algn="l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Definición de día y hora de viajes.</a:t>
            </a:r>
            <a:endParaRPr/>
          </a:p>
          <a:p>
            <a:pPr indent="-406400" lvl="0" marL="457200" rtl="0" algn="l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Usuario chofer</a:t>
            </a:r>
            <a:endParaRPr/>
          </a:p>
          <a:p>
            <a:pPr indent="-406400" lvl="0" marL="457200" rtl="0" algn="l">
              <a:lnSpc>
                <a:spcPct val="107916"/>
              </a:lnSpc>
              <a:spcBef>
                <a:spcPts val="800"/>
              </a:spcBef>
              <a:spcAft>
                <a:spcPts val="0"/>
              </a:spcAft>
              <a:buSzPts val="2800"/>
              <a:buFont typeface="Arial"/>
              <a:buChar char="●"/>
            </a:pPr>
            <a:r>
              <a:rPr lang="es-MX" sz="2400"/>
              <a:t>Reporte de finalización de viaje</a:t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36" name="Google Shape;336;p57"/>
          <p:cNvSpPr txBox="1"/>
          <p:nvPr/>
        </p:nvSpPr>
        <p:spPr>
          <a:xfrm>
            <a:off x="2780145" y="424984"/>
            <a:ext cx="6030575" cy="7078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s-MX" sz="4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Pendientes del proyecto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8c43f1dadf_1_15"/>
          <p:cNvSpPr txBox="1"/>
          <p:nvPr>
            <p:ph idx="1" type="body"/>
          </p:nvPr>
        </p:nvSpPr>
        <p:spPr>
          <a:xfrm>
            <a:off x="1182850" y="1107925"/>
            <a:ext cx="100779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s-MX" sz="6900"/>
              <a:t>Preguntas</a:t>
            </a:r>
            <a:endParaRPr sz="6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2025-09-02T18:33:49Z</dcterms:created>
  <dc:creator>alonzo tobar martinez</dc:creator>
</cp:coreProperties>
</file>